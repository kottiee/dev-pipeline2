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b8dca8ebf34334" /><Relationship Type="http://schemas.openxmlformats.org/officeDocument/2006/relationships/extended-properties" Target="/docProps/app.xml" Id="R2f4e908b517643a6" /><Relationship Type="http://schemas.openxmlformats.org/officeDocument/2006/relationships/officeDocument" Target="/ppt/presentation.xml" Id="R59a9f8bfc50e4b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1366f4118d40b2"/>
  </p:sldMasterIdLst>
  <p:notesMasterIdLst>
    <p:notesMasterId xmlns:r="http://schemas.openxmlformats.org/officeDocument/2006/relationships" r:id="R7b98b119901546f3"/>
  </p:notesMasterIdLst>
  <p:sldIdLst>
    <p:sldId xmlns:r="http://schemas.openxmlformats.org/officeDocument/2006/relationships" id="256" r:id="Reef69d60e2cf45d9"/>
    <p:sldId xmlns:r="http://schemas.openxmlformats.org/officeDocument/2006/relationships" id="257" r:id="Rfd939369cf9b47b1"/>
    <p:sldId xmlns:r="http://schemas.openxmlformats.org/officeDocument/2006/relationships" id="258" r:id="R84b3d6cb7e0d49b1"/>
    <p:sldId xmlns:r="http://schemas.openxmlformats.org/officeDocument/2006/relationships" id="259" r:id="Rbd2a94c966f6404e"/>
    <p:sldId xmlns:r="http://schemas.openxmlformats.org/officeDocument/2006/relationships" id="260" r:id="R266639342cca4949"/>
    <p:sldId xmlns:r="http://schemas.openxmlformats.org/officeDocument/2006/relationships" id="261" r:id="Rb80cbfc835a742a1"/>
    <p:sldId xmlns:r="http://schemas.openxmlformats.org/officeDocument/2006/relationships" id="262" r:id="R4e632daf2a6f485a"/>
    <p:sldId xmlns:r="http://schemas.openxmlformats.org/officeDocument/2006/relationships" id="263" r:id="R8bc3e0ba876f411c"/>
    <p:sldId xmlns:r="http://schemas.openxmlformats.org/officeDocument/2006/relationships" id="264" r:id="Rf5249a8a450c43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d2a71820ab4390" /><Relationship Type="http://schemas.openxmlformats.org/officeDocument/2006/relationships/slideMaster" Target="/ppt/slideMasters/slideMaster1.xml" Id="R361366f4118d40b2" /><Relationship Type="http://schemas.openxmlformats.org/officeDocument/2006/relationships/notesMaster" Target="/ppt/notesMasters/notesMaster1.xml" Id="R7b98b119901546f3" /><Relationship Type="http://schemas.openxmlformats.org/officeDocument/2006/relationships/presProps" Target="/ppt/presProps.xml" Id="R913c74cc4b5f42d9" /><Relationship Type="http://schemas.openxmlformats.org/officeDocument/2006/relationships/tableStyles" Target="/ppt/tableStyles.xml" Id="R964f4eabb567445d" /><Relationship Type="http://schemas.openxmlformats.org/officeDocument/2006/relationships/slide" Target="/ppt/slides/slide1.xml" Id="Reef69d60e2cf45d9" /><Relationship Type="http://schemas.openxmlformats.org/officeDocument/2006/relationships/slide" Target="/ppt/slides/slide2.xml" Id="Rfd939369cf9b47b1" /><Relationship Type="http://schemas.openxmlformats.org/officeDocument/2006/relationships/slide" Target="/ppt/slides/slide3.xml" Id="R84b3d6cb7e0d49b1" /><Relationship Type="http://schemas.openxmlformats.org/officeDocument/2006/relationships/slide" Target="/ppt/slides/slide4.xml" Id="Rbd2a94c966f6404e" /><Relationship Type="http://schemas.openxmlformats.org/officeDocument/2006/relationships/slide" Target="/ppt/slides/slide5.xml" Id="R266639342cca4949" /><Relationship Type="http://schemas.openxmlformats.org/officeDocument/2006/relationships/slide" Target="/ppt/slides/slide6.xml" Id="Rb80cbfc835a742a1" /><Relationship Type="http://schemas.openxmlformats.org/officeDocument/2006/relationships/slide" Target="/ppt/slides/slide7.xml" Id="R4e632daf2a6f485a" /><Relationship Type="http://schemas.openxmlformats.org/officeDocument/2006/relationships/slide" Target="/ppt/slides/slide8.xml" Id="R8bc3e0ba876f411c" /><Relationship Type="http://schemas.openxmlformats.org/officeDocument/2006/relationships/slide" Target="/ppt/slides/slide9.xml" Id="Rf5249a8a450c43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25f19a8ed347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e5da39bb4d4f81" /><Relationship Type="http://schemas.openxmlformats.org/officeDocument/2006/relationships/notesMaster" Target="/ppt/notesMasters/notesMaster1.xml" Id="Rda75783fd46d44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342c0b9ba64756" /><Relationship Type="http://schemas.openxmlformats.org/officeDocument/2006/relationships/notesMaster" Target="/ppt/notesMasters/notesMaster1.xml" Id="R5fb1191009214f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e70b6e86b24c1e" /><Relationship Type="http://schemas.openxmlformats.org/officeDocument/2006/relationships/notesMaster" Target="/ppt/notesMasters/notesMaster1.xml" Id="R081ccb546bce47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a660e00e7c43a2" /><Relationship Type="http://schemas.openxmlformats.org/officeDocument/2006/relationships/notesMaster" Target="/ppt/notesMasters/notesMaster1.xml" Id="Rd4f9dcce92be4e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22107d50d24d58" /><Relationship Type="http://schemas.openxmlformats.org/officeDocument/2006/relationships/notesMaster" Target="/ppt/notesMasters/notesMaster1.xml" Id="R7699eb325d3e4e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ffbd946fde4215" /><Relationship Type="http://schemas.openxmlformats.org/officeDocument/2006/relationships/notesMaster" Target="/ppt/notesMasters/notesMaster1.xml" Id="Rdecadaf805c846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99ee4fb27d407c" /><Relationship Type="http://schemas.openxmlformats.org/officeDocument/2006/relationships/notesMaster" Target="/ppt/notesMasters/notesMaster1.xml" Id="Re08c271eb2754b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9269059ba34726" /><Relationship Type="http://schemas.openxmlformats.org/officeDocument/2006/relationships/notesMaster" Target="/ppt/notesMasters/notesMaster1.xml" Id="R022b870235ef4a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c4f0c73189418a" /><Relationship Type="http://schemas.openxmlformats.org/officeDocument/2006/relationships/notesMaster" Target="/ppt/notesMasters/notesMaster1.xml" Id="R9c7b4e3455e544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https://github.com/Kottiee/dev-pipeline2/issues/22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behavior sources: /Users/natto/Projects/dev-pipeline2/README.md and spec.md. Target design: GitHub Issue #22.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source: https://github.com/Kottiee/dev-pipeline2/issues/22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source: GitHub Issue #22. Issue candidates require evidence and machine-checkable acceptance criteria.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Related repository issues: #17 Failure Recovery, #20 Diagnostic Agent, #21 reviewer-generated test isolation.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implementation: /Users/natto/Projects/dev-pipeline2/dev_pipeline/prompts/run.txt and dev_pipeline/pipeline.py lines 146-148.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 examples are the proposed policy baseline from GitHub Issue #22 and the design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repository already records token and allocation usage. Proposed change uses capacity data for scheduling while preserving task priority.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source: GitHub Issue #22. These four decisions should be resolved before implementation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285fc568546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c0e15419b0432a" /><Relationship Type="http://schemas.openxmlformats.org/officeDocument/2006/relationships/slideLayout" Target="/ppt/slideLayouts/slideLayout1.xml" Id="R106028da797543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6028da797543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da425c8034721" /><Relationship Type="http://schemas.openxmlformats.org/officeDocument/2006/relationships/notesSlide" Target="/ppt/notesSlides/notesSlide1.xml" Id="R1e37eb7e708c4c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0ffcdbd524080" /><Relationship Type="http://schemas.openxmlformats.org/officeDocument/2006/relationships/notesSlide" Target="/ppt/notesSlides/notesSlide2.xml" Id="Rdc7ec75c518d4d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161774a0c4e98" /><Relationship Type="http://schemas.openxmlformats.org/officeDocument/2006/relationships/notesSlide" Target="/ppt/notesSlides/notesSlide3.xml" Id="R4fb2a7792a9f48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d151962fe49f8" /><Relationship Type="http://schemas.openxmlformats.org/officeDocument/2006/relationships/notesSlide" Target="/ppt/notesSlides/notesSlide4.xml" Id="Rd050ebd65b3d4c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b444bcee346ea" /><Relationship Type="http://schemas.openxmlformats.org/officeDocument/2006/relationships/notesSlide" Target="/ppt/notesSlides/notesSlide5.xml" Id="R453ed109d56341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cad97a74044e4" /><Relationship Type="http://schemas.openxmlformats.org/officeDocument/2006/relationships/notesSlide" Target="/ppt/notesSlides/notesSlide6.xml" Id="R51037932366c45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ede5ad75b4f61" /><Relationship Type="http://schemas.openxmlformats.org/officeDocument/2006/relationships/notesSlide" Target="/ppt/notesSlides/notesSlide7.xml" Id="R102bba071f1546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0de8d84e94f91" /><Relationship Type="http://schemas.openxmlformats.org/officeDocument/2006/relationships/notesSlide" Target="/ppt/notesSlides/notesSlide8.xml" Id="R4ac3312d5f6f49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47992df384a02" /><Relationship Type="http://schemas.openxmlformats.org/officeDocument/2006/relationships/notesSlide" Target="/ppt/notesSlides/notesSlide9.xml" Id="Rc99e6b344cac48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33BC25-9567-4410-AA37-9DDDFAC5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49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自律開発パイプライン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0B14F-644E-45F9-A8CD-2EEC6709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0D5B2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0">
                <a:solidFill>
                  <a:srgbClr val="30D5B2"/>
                </a:solidFill>
                <a:latin typeface="Hiragino Sans"/>
                <a:ea typeface="Hiragino Sans"/>
                <a:cs typeface="Hiragino Sans"/>
              </a:rPr>
              <a:t>Issue自動生成から検証済みPRまで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08A9E-D782-44CD-8D2E-A90651B6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設計案 v1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B29E7-FB9C-408D-8C26-83FD4DC7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65B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0E68D-E4F1-46B2-8F1A-299BDD67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rPr>
              <a:t>発見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7811D-7314-432A-A3E6-7B870978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F4C7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3F5A3-330F-4069-81DF-36092B25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選別</a:t>
            </a:r>
          </a:p>
        </p:txBody>
      </p:sp>
      <p:cxnSp>
        <p:nvCxnSpPr>
          <p:cNvPr id="29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43125" y="53244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FA10C-FAF4-4EC9-AC37-A816FCAC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A990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A3CC51-60B8-4772-9536-85079C30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90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A990FF"/>
                </a:solidFill>
                <a:latin typeface="Hiragino Sans"/>
                <a:ea typeface="Hiragino Sans"/>
                <a:cs typeface="Hiragino Sans"/>
              </a:rPr>
              <a:t>割当</a:t>
            </a:r>
          </a:p>
        </p:txBody>
      </p:sp>
      <p:cxnSp>
        <p:nvCxnSpPr>
          <p:cNvPr id="32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905250" y="53244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6B7AA-C1FB-4F32-BF1F-3C1C0043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30D5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A53C42-5B49-4B73-A645-0CA417BD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rPr>
              <a:t>実装</a:t>
            </a:r>
          </a:p>
        </p:txBody>
      </p:sp>
      <p:cxnSp>
        <p:nvCxnSpPr>
          <p:cNvPr id="35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667375" y="53244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634C9-C284-4B06-83B8-9F6FDA4B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79D99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758526-9A6D-4BBD-B2FC-53DEA97F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検証</a:t>
            </a:r>
          </a:p>
        </p:txBody>
      </p:sp>
      <p:cxnSp>
        <p:nvCxnSpPr>
          <p:cNvPr id="38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29500" y="53244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750F5E-0063-4A5E-B992-83446222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5048250"/>
            <a:ext cx="1381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19050">
            <a:solidFill>
              <a:srgbClr val="FF806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54226-DA9F-44B3-82F5-4F762F6A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5048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PR</a:t>
            </a:r>
          </a:p>
        </p:txBody>
      </p:sp>
      <p:cxnSp>
        <p:nvCxnSpPr>
          <p:cNvPr id="41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191625" y="53244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8B5675-3CE8-4E9C-A815-866CD94E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531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GitHub Issue #22 を基に再整理</a:t>
            </a:r>
          </a:p>
        </p:txBody>
      </p:sp>
    </p:spTree>
    <p:extLst>
      <p:ext uri="{BB962C8B-B14F-4D97-AF65-F5344CB8AC3E}">
        <p14:creationId xmlns:p14="http://schemas.microsoft.com/office/powerpoint/2010/main" val="509420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8606F8-617A-4839-8F84-01A37B6D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目指す自律化の範囲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7A510-9A55-4A21-BC52-4C9BD5B4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開発要求を待つ仕組みから、改善点を見つけてPRまで進める仕組みへ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39F77-2118-4E7C-9CCF-5FBE96E7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66F90-05D7-4858-B7D0-1DBAE7E4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rPr>
              <a:t>現在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03CFA-118E-41D0-9FBF-40094BC1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2476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A472D-B6A6-467A-81FE-5CAA2027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597EF-8C48-4424-AF2E-E8F1035D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人がIssueを登録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42611-1075-4FA6-832A-213ED79F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目的と条件を入力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731F7-A178-4452-AA63-5F6BCEF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47875"/>
            <a:ext cx="2476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58B0D-9A69-4686-861E-8B3DE7BC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47875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9803A-90F9-436C-8C13-4C1F33EE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621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AIが実装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D2D24-8E3D-4D6F-BBD3-25686028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95550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テストと修正を反復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7E5DA-98E5-48D0-9231-807872A7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2476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F80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05B6B-D425-4B1F-8C0A-DEE7BBAD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6F"/>
          </a:solidFill>
          <a:ln xmlns:a="http://schemas.openxmlformats.org/drawingml/2006/main" w="0">
            <a:solidFill>
              <a:srgbClr val="FF806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B4C82-2AC4-4039-9EE5-9E3CDC9A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621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フェーズごとに承認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D2F28-6A6D-43CF-8CF0-1037B5B0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95550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人が毎回判断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054BE-5AE7-4701-8357-724BC9B3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47875"/>
            <a:ext cx="20002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5E70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B60B95-C55D-4E2A-AAF8-12796A93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47875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708A"/>
          </a:solidFill>
          <a:ln xmlns:a="http://schemas.openxmlformats.org/drawingml/2006/main" w="0">
            <a:solidFill>
              <a:srgbClr val="5E70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DCFAF-D50A-4BCA-B009-E62C9E96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621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RESOLVED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0C3FF0-D396-4299-B91C-A06974C4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95550"/>
            <a:ext cx="1676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PRやデプロイとは未接続</a:t>
            </a:r>
          </a:p>
        </p:txBody>
      </p:sp>
      <p:cxnSp>
        <p:nvCxnSpPr>
          <p:cNvPr id="68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43250" y="25241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096000" y="25241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048750" y="25241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803EB1-CDDD-4566-8A12-FEC45BE6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rPr>
              <a:t>今回の目標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F22804-DD15-4BC1-9C57-ACEFA7C5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476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30D5B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B034FE-A345-496C-AA69-E73DAEB8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7F437F-959A-423C-A68F-842E08A0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改善点を自動発見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C423EF-4B31-40D8-9FBC-7E20E577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62475"/>
            <a:ext cx="21526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CI・コード・依存関係を監視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0C1924-4119-4C60-8957-6501CD56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14800"/>
            <a:ext cx="2476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4C7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6BE861-9C5C-4441-BA1F-4536643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148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3E8E04-D19A-42E0-A2EA-4BDDE923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291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Issueを自動選別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D1DD75-20A2-423E-B9B7-63386F5E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62475"/>
            <a:ext cx="21526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根拠・重複・リスクを確認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3A5908-3F44-4815-A54D-7B2D8BEE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2476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48FA4D-737B-4E78-819A-3060F685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723AEA-8F04-4D16-8E1F-A3490C31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291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隔離環境で並列実装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919DB1-CC19-4F7C-ACA8-FACA21A9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1526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空いているAgent枠を割当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5F8B0D-112A-4EAA-B145-3FF76144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14800"/>
            <a:ext cx="20002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ECFC2F-1C85-41FA-8FF3-D01BE315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148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3D3568-68EC-44BD-8D62-542A9A84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2291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検証済みPR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C62CD6-61CE-4CF7-AD00-27006ECB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62475"/>
            <a:ext cx="1676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低リスクのみ自動Merge候補</a:t>
            </a:r>
          </a:p>
        </p:txBody>
      </p:sp>
      <p:cxnSp>
        <p:nvCxnSpPr>
          <p:cNvPr id="88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3143250" y="46291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6096000" y="46291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cxnSp>
        <p:nvCxnSpPr>
          <p:cNvPr id="90" name=""/>
          <p:cNvCxnSpPr>
            <a:stCxn xmlns:a="http://schemas.openxmlformats.org/drawingml/2006/main" id="33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9048750" y="46291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F9ADF8-1865-413B-8C41-9656851F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初期範囲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511C2-79AF-4E73-B2B1-CB4425D4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Issue候補生成からDraft PRまで。 本番デプロイは既存基盤へ委ねる。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01979D-3FE4-484C-8D39-0BD7306D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DF4FFD-DE14-42F9-952D-61DF6E2F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362670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D0E024-FEA1-4DBC-8C96-8EBF449E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システム全体像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1732D-465F-48A5-9980-A4DADC0B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自動化の中核を7つの責務に分離する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3D5D9-9CDF-4B91-B08A-5B44191A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3E907-90C7-4E31-AF97-78E2AC5E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66875"/>
            <a:ext cx="2000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4124E-6E43-480E-AE92-D3208E38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66875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9391E-FB76-4967-8375-F9CD6984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1  シグナル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B152A-A447-4BD5-9C3D-03082A40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Issue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CI失敗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コード品質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E7D33-D43B-45CA-B83C-1194FEE3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66875"/>
            <a:ext cx="2000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30D5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F433C-F00F-4E5C-9971-38B328DE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66875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606C29-03DE-4E7B-A751-63AA3DC2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7811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2  Issue Factory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E09C1-79FA-4338-A124-7D827C83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145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根拠付き候補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受け入れ条件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8CD70F-2D58-4164-B499-FD7A0C13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666875"/>
            <a:ext cx="2000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4C7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7641CA-47DF-4EE2-9D04-3A0FB5C6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666875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070F51-79F5-45B0-9C48-3CD016B1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7811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3 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8AB20-1AB4-4485-B031-6171A51C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1145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重複排除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リスク判定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A5D10-BA56-4E77-A155-DB70495D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66875"/>
            <a:ext cx="2000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0B0FD-338B-4712-97D3-6FF38E4C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66875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C38628-11D7-4354-92F2-6C014237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7811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4  Scheduler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72673-B5ED-4FC4-AAE6-5A292333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145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残量と適性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実行上限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3CEB9B-1A2B-41F4-B902-D7DF2102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666875"/>
            <a:ext cx="1762125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E0EF1-1B18-4657-B627-C6AC89F0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666875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5AA5B-BA30-417C-8C3F-8D786B77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81175"/>
            <a:ext cx="1438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5  Workspace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656BEF-4943-442C-99FA-D662531E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14550"/>
            <a:ext cx="14382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branch</a:t>
            </a:r>
          </a:p>
          <a:p xmlns:a="http://schemas.openxmlformats.org/drawingml/2006/main">
            <a:pPr algn="l">
              <a:defRPr sz="12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worktree</a:t>
            </a:r>
          </a:p>
        </p:txBody>
      </p:sp>
      <p:cxnSp>
        <p:nvCxnSpPr>
          <p:cNvPr id="68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24125" y="23098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905375" y="23098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286625" y="23098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667875" y="2309813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941A45-3AC2-47BC-82FD-EEFCAF24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57625"/>
            <a:ext cx="3714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380591-1A48-4F3B-B9D8-0AA8A95F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57625"/>
            <a:ext cx="666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DC6EF4-0AC4-49C3-9837-9EC9D151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97192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6  Trusted Quality Gate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40C340-AC47-4F76-9F19-13E54C23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05300"/>
            <a:ext cx="3390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信頼済みCI  /  セキュリティ検査  /  独立レビュー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F7869-BEA1-4E01-AFFF-6F0BBAE5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3714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F806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605117-9D65-497A-BAA0-A38CF9A0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666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6F"/>
          </a:solidFill>
          <a:ln xmlns:a="http://schemas.openxmlformats.org/drawingml/2006/main" w="0">
            <a:solidFill>
              <a:srgbClr val="FF806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CB7101-DA3F-4EBB-ACC0-7A074E64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7192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7  GitHub PR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6D97A4-FC53-4287-A252-5F5F9535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390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修正ループ  /  人間判断  /  条件付きMerge</a:t>
            </a:r>
          </a:p>
        </p:txBody>
      </p:sp>
      <p:cxnSp>
        <p:nvCxnSpPr>
          <p:cNvPr id="80" name=""/>
          <p:cNvCxnSpPr>
            <a:stCxn xmlns:a="http://schemas.openxmlformats.org/drawingml/2006/main" id="20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 flipH="1">
            <a:off x="4476750" y="2952750"/>
            <a:ext cx="6310313" cy="904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6334125" y="4452938"/>
            <a:ext cx="1381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32" idx="0"/>
            <a:endCxn xmlns:a="http://schemas.openxmlformats.org/drawingml/2006/main" id="28" idx="0"/>
          </p:cNvCxnSpPr>
          <p:nvPr/>
        </p:nvCxnSpPr>
        <p:spPr>
          <a:xfrm xmlns:a="http://schemas.openxmlformats.org/drawingml/2006/main" flipH="1">
            <a:off x="4476750" y="3629025"/>
            <a:ext cx="5095875" cy="228600"/>
          </a:xfrm>
          <a:prstGeom xmlns:a="http://schemas.openxmlformats.org/drawingml/2006/main" prst="bentConnector4">
            <a:avLst/>
          </a:prstGeom>
          <a:ln xmlns:a="http://schemas.openxmlformats.org/drawingml/2006/main" w="23813">
            <a:solidFill>
              <a:srgbClr val="FF806F"/>
            </a:solidFill>
            <a:prstDash val="dash"/>
            <a:tailEnd type="triangle" w="sm" len="sm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0EC09-1F76-467B-A9DC-A761FE21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721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GitHub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F3B047-688C-4C67-9E0F-9C05E524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Issue・PR・レビューの正式記録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7051D8-A2C0-4EF0-A313-8D54D4E4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5721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rPr>
              <a:t>Local WorkStore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CE2B43-8051-47F0-A139-C4A5C317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674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実行リース・ログ・再試行状態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28897-904A-4629-B993-992AD042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CD9255-C48E-49CF-92B4-0B270A82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672612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A1D06F-D635-4315-8660-17DF38D8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 Factory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2CDEC-1854-4E04-9811-5CD8E6D2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AIの思いつきではなく、検証できる根拠からIssue候補を作る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A7D3C-4AE9-4FA9-9615-5DBFD871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E58F2-7E8D-4868-92E5-9070D663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85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65BFFF"/>
                </a:solidFill>
                <a:latin typeface="Hiragino Sans"/>
                <a:ea typeface="Hiragino Sans"/>
                <a:cs typeface="Hiragino Sans"/>
              </a:rPr>
              <a:t>入力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B068C-C53A-49A3-81C5-40118918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3143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48C4A-F17E-4AF4-85C4-4F51C42B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66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3B5F7-90B2-4072-B56E-33E335F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CI失敗・Flaky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F23C4-785B-4848-BF2A-469CDA14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3143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30D5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86E07-823E-44F1-A1FB-07149943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66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612DBF-55B6-4947-A1A8-34A21828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TODO・型・lint・カバレッジ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3A29D-93F3-4731-8BB8-DB0967E5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9950"/>
            <a:ext cx="3143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4C7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49D8CB-2ECB-4FE8-9E04-C43FDC67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9950"/>
            <a:ext cx="66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C6DE99-26B5-4E9D-AC72-14BFAF6B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依存更新・脆弱性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21EEB-7C6F-41FC-9935-D9A67E13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52900"/>
            <a:ext cx="3143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49B89-7857-4F82-B81E-DEDC151F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52900"/>
            <a:ext cx="66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830CF-7E7F-467F-B081-686B2936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文書と実装の不一致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F89CC-C1C8-477D-84F7-49FC0611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95850"/>
            <a:ext cx="3143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F806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0E2AE-B35F-4B30-B653-1D09CADD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95850"/>
            <a:ext cx="66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6F"/>
          </a:solidFill>
          <a:ln xmlns:a="http://schemas.openxmlformats.org/drawingml/2006/main" w="0">
            <a:solidFill>
              <a:srgbClr val="FF806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B45D9-B892-4817-9BFD-EC4FD5EA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承認済みプロダクト方針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C9AA34-6798-4D76-8F92-BEF3B1A2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381375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30D5B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41DD46-40B1-4FED-83F0-B737D734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defRPr>
            </a:pPr>
            <a:r>
              <a:rPr sz="225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rPr>
              <a:t>Issue候補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E66FE4-59FA-4E19-946D-9EA44E1E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051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FA9785-6DBB-4632-BAA4-334191D8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765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問題と該当箇所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1D3F8-D49B-4136-BB56-3B198C2A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76600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B64DDB-5DC1-48D3-8D5C-B8E9C6DB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2480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再現ログ・検査結果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CAD13A-9481-414F-911F-B040C24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4807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216B88-58BF-4428-98E2-25E3E539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19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機械判定できる完了条件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318834-B61A-444D-BE40-0AE9F661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19550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B3F776-96DC-441F-AE07-3709330A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9909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推定規模と変更範囲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76A6B4-4B1D-48E2-9E25-93951C92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910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D9A58F-781D-4A60-A692-BFE155B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362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リスクと確度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2667A4-1658-4994-91FC-40D389FF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62500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6292A0-A9D8-4515-A933-BE216A46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339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重複判定キー</a:t>
            </a:r>
          </a:p>
        </p:txBody>
      </p:sp>
      <p:cxnSp>
        <p:nvCxnSpPr>
          <p:cNvPr id="90" name=""/>
          <p:cNvCxnSpPr>
            <a:stCxn xmlns:a="http://schemas.openxmlformats.org/drawingml/2006/main" id="5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733800" y="2190750"/>
            <a:ext cx="790575" cy="1524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30425C"/>
            </a:solidFill>
            <a:prstDash val="solid"/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733800" y="2933700"/>
            <a:ext cx="790575" cy="781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30425C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11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733800" y="3676650"/>
            <a:ext cx="790575" cy="38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F4C76B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14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3733800" y="3714750"/>
            <a:ext cx="790575" cy="704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30425C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3733800" y="3714750"/>
            <a:ext cx="790575" cy="14478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FE4CAC-FA65-4CEC-AFD4-E982081D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85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判定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8C8B91-39BE-4FAC-8E8D-2E6D90D2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2857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5F4E44-974C-4E87-8694-894FF783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E10ACE-4519-4753-8C40-A41A5A1D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自動実行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C82FAE-4E6C-4015-84B6-B4A35783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47925"/>
            <a:ext cx="2533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低リスク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小規模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機械検証可能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CE7C57-6446-44E2-A69A-94A1B06B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76625"/>
            <a:ext cx="2857500" cy="904875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4C76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38A7BB-1D26-44FD-AD57-AA89B979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76625"/>
            <a:ext cx="66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B762C0-C3EC-431F-9CF4-ED5BED1B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909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人間が方針決定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96B3C9-FBFE-44E6-9375-B029486E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533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機能仕様や優先順位が必要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140967-8856-45D3-A110-F59158C9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0125"/>
            <a:ext cx="2857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F806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E29817-E7E5-4E35-BAB3-26F210CE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0125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6F"/>
          </a:solidFill>
          <a:ln xmlns:a="http://schemas.openxmlformats.org/drawingml/2006/main" w="0">
            <a:solidFill>
              <a:srgbClr val="FF806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73C5CB-5D37-41A1-8E6F-85CD859F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244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却下・保留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04185D-4D52-4FA4-BE3E-65ABC066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57800"/>
            <a:ext cx="2533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重複・根拠不足・目的外</a:t>
            </a:r>
          </a:p>
        </p:txBody>
      </p:sp>
      <p:cxnSp>
        <p:nvCxnSpPr>
          <p:cNvPr id="108" name=""/>
          <p:cNvCxnSpPr>
            <a:stCxn xmlns:a="http://schemas.openxmlformats.org/drawingml/2006/main" id="20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 flipV="1">
            <a:off x="7905750" y="2533650"/>
            <a:ext cx="762000" cy="1181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79D995"/>
            </a:solidFill>
            <a:prstDash val="solid"/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20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7905750" y="3714750"/>
            <a:ext cx="762000" cy="214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F4C76B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20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905750" y="3714750"/>
            <a:ext cx="762000" cy="1485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FF806F"/>
            </a:solidFill>
            <a:prstDash val="solid"/>
            <a:tailEnd type="triangle" w="sm" len="sm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2CB5AA-118E-4250-89CC-FF920FD2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3CA2E9A-F108-4CC6-9719-F5E5CC9E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814320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D202E3-42D6-4408-92BE-2A5605DD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自律実行ループ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5CDB6-3705-4777-8624-99EF7ABE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実装者、検証基盤、レビュー担当を分離する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FCFC8-5B15-4741-B1E5-E4B5B1B6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9D201-9394-4834-BE6A-8B53A624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2571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157E0-C604-4EB3-9B85-3A6DCAC7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EF9F3-457D-40CC-98EB-29F813C1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Scheduler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4FAB1A-86DE-495F-A648-3F89B29E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247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使用枠・適性・上限から実行Agentを選ぶ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44CC2-317D-4F9A-84E4-623BDE6B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66875"/>
            <a:ext cx="2381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0383E-B42B-4A5D-B2BA-50E1618F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66875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BFBECC-1E5E-401E-A58C-291D50C9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81175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専用worktree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642C3-8008-4C84-B3E4-CDEDADDB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14550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Issueごとのbranchと環境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91F83-2611-4AF3-9507-37B6238E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2476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30D5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2A57A-811C-4C54-8FFE-FCC69CAE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CBAF8F-3E5D-42E3-9318-46A32A11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811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Implementation 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3E391-0B64-40F0-889F-0B19AE85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14550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実装とローカルテスト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6C5A4B-B662-4255-AFA3-0A5DC82D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66875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13AC1-640D-4C94-AC61-16656B85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66875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8BC264-ADD2-4594-B82C-8B58CDD7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81175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Trusted 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45CF7C-713C-4117-BDB0-EE9C3668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14550"/>
            <a:ext cx="1771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基準ブランチで管理した検証</a:t>
            </a:r>
          </a:p>
        </p:txBody>
      </p:sp>
      <p:cxnSp>
        <p:nvCxnSpPr>
          <p:cNvPr id="64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23850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65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9600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E708A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048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D6745F-0406-4BC2-93DE-5D4A4C74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67125"/>
            <a:ext cx="31432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6A3805-FC61-4353-9574-B0FF0B3A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67125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11258C-B08C-4100-A0F6-8B7F33B4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814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Independent Review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018F77-9937-4700-9281-F39438EF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14800"/>
            <a:ext cx="2819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別セッションで差分と証跡を検査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537823-611A-4723-B65B-88716BFA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67125"/>
            <a:ext cx="2857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F806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8ACE19-4379-4908-A0EC-5332945F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67125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6F"/>
          </a:solidFill>
          <a:ln xmlns:a="http://schemas.openxmlformats.org/drawingml/2006/main" w="0">
            <a:solidFill>
              <a:srgbClr val="FF806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909705-B767-42B9-86EA-C069948A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814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Repair 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1428A6-7A70-409C-B53E-79A38FDF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14800"/>
            <a:ext cx="25336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失敗内容だけを受け取り修正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C44F77-3E58-49BE-ADA0-ED498886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3812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CA0E01-14F0-4A1B-A433-267D9A10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DB1D3A-86D1-4916-BF43-CD28C467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81425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Draft PR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837640-2B89-41BE-93B8-35D7B2AC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2057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最終CIとリスク判定へ</a:t>
            </a:r>
          </a:p>
        </p:txBody>
      </p:sp>
      <p:cxnSp>
        <p:nvCxnSpPr>
          <p:cNvPr id="79" name=""/>
          <p:cNvCxnSpPr>
            <a:stCxn xmlns:a="http://schemas.openxmlformats.org/drawingml/2006/main" id="16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9239250" y="2543175"/>
            <a:ext cx="1333500" cy="1123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79D995"/>
            </a:solidFill>
            <a:prstDash val="solid"/>
            <a:tailEnd type="triangle" w="sm" len="sm"/>
          </a:ln>
        </p:spPr>
      </p:cxnSp>
      <p:cxnSp>
        <p:nvCxnSpPr>
          <p:cNvPr id="80" name=""/>
          <p:cNvCxnSpPr>
            <a:stCxn xmlns:a="http://schemas.openxmlformats.org/drawingml/2006/main" id="23" idx="1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H="1">
            <a:off x="3048000" y="3552825"/>
            <a:ext cx="4619625" cy="628650"/>
          </a:xfrm>
          <a:prstGeom xmlns:a="http://schemas.openxmlformats.org/drawingml/2006/main" prst="bentConnector4">
            <a:avLst/>
          </a:prstGeom>
          <a:ln xmlns:a="http://schemas.openxmlformats.org/drawingml/2006/main" w="23813">
            <a:solidFill>
              <a:srgbClr val="30D5B2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16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5286375" y="2543175"/>
            <a:ext cx="5286375" cy="1123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FF806F"/>
            </a:solidFill>
            <a:prstDash val="dash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23" idx="1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H="1">
            <a:off x="6715125" y="41814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FF806F"/>
            </a:solidFill>
            <a:prstDash val="dash"/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27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5286375" y="2543175"/>
            <a:ext cx="2524125" cy="1123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FF806F"/>
            </a:solidFill>
            <a:prstDash val="solid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DCD38E-69A6-4BF2-A7EB-4E1F046F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停止条件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B24671-F155-46FC-A2DA-D9BE91CD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911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同じ失敗が続く  /  Run・時間・使用量の上限  /  権限または仕様判断が必要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ED12FB-635A-47AE-BA46-2F8CD13A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102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停止時はコードを破棄せず、証跡付きで人間へ引き渡す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CC8028-D357-40D7-B1DC-923E590E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943F10-A2D1-403C-A671-56D463A8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66579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93AB39-4E8D-46EA-81AE-6150CA65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信頼境界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AE543-E4FB-4ECB-AD79-56233490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自律性を高める前に、Agentの出力とホスト実行を切り離す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17976-BF8C-4D7C-97D9-DDE145F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84F68-9E9A-45D6-9E62-107AB655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4667250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FF806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C3080-27D4-4575-A96D-FE7E29EB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526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信頼しない領域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5D795-4A85-40EB-8460-BF3DBDB5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Agent workspace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E7025-65E6-48E6-939B-F2C731AD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52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E8078-3ADF-496C-9555-3F80D29A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05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生成コード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3B789-139C-485D-BA78-ABE1709F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099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F0CDF-4B65-4F00-8962-FA83FB2C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623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生成テスト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C6A80-3434-478E-9B04-39F37281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671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6EE3A-032C-4BF7-8F4E-CCA9EEF1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95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リポジトリ内の指示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E9203-075C-4F61-8790-E715D78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243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A3D45-45BA-415F-9141-44C50456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767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Issue本文・外部入力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A12FD-3DCA-4146-AD1A-24A51531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815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328F2-2DF6-4D5C-BF56-758E5A34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33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Agentが提案したコマンド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7D180-04D9-4DF0-AFAE-E6FF2406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76500"/>
            <a:ext cx="1000125" cy="200025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A2A43"/>
          </a:solidFill>
          <a:ln xmlns:a="http://schemas.openxmlformats.org/drawingml/2006/main" w="23813">
            <a:solidFill>
              <a:srgbClr val="F4C76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18528D-876C-4001-87BF-36D2302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24200"/>
            <a:ext cx="904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境界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5DA56F-6BC4-44CB-AB8F-B4DCF0FB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7662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許可済み</a:t>
            </a:r>
          </a:p>
          <a:p xmlns:a="http://schemas.openxmlformats.org/drawingml/2006/main">
            <a:pPr algn="ctr">
              <a:defRPr sz="12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Job IDのみ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9D5B05-74BF-41AA-8A71-60A6A62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66875"/>
            <a:ext cx="4714875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79D99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AB9DBB-41B1-41B3-B43B-2B7A6FC4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526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信頼する領域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E3E39B-239D-48E6-9A34-CFFFF8DC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76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Trusted CI control plane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D2375-A960-4AC0-A07E-50845799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52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E279C1-80AA-420B-964E-FF079F7F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051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基準ブランチのCI定義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F88B30-C872-4717-B86E-C2B33250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099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A164B5-B1D5-4E90-9774-57111373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3623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一時コンテナ・制限された権限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7802B9-9F84-47F4-99F9-C2165AD0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671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AA401E-C8AC-4528-865E-3A18DE4D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195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型・lint・セキュリティ検査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F01A5E-DC2D-4270-A7F7-D8F24EAD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F3C96A-B14C-4A93-A2D4-7F35F2E8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2767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署名された結果とログ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959163-0EC4-4C44-92DC-9854DDDD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A9C2DF-3999-4E8F-A0C1-6593EBD2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339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合否だけを実行ループへ返す</a:t>
            </a:r>
          </a:p>
        </p:txBody>
      </p:sp>
      <p:cxnSp>
        <p:nvCxnSpPr>
          <p:cNvPr id="70" name=""/>
          <p:cNvCxnSpPr>
            <a:stCxn xmlns:a="http://schemas.openxmlformats.org/drawingml/2006/main" id="4" idx="3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V="1">
            <a:off x="5286375" y="3476625"/>
            <a:ext cx="28575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C76B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17" idx="0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572250" y="3476625"/>
            <a:ext cx="28575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9D995"/>
            </a:solidFill>
            <a:prstDash val="solid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F3A584-77A6-43B9-8ADE-85B04CCB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578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現状の課題: Agentが生成した devpipeline-tests.json の文字列をホストが shell=True で実行する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408C05-4063-4700-B8F5-B92C8002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957EFA-4BFC-49DD-ADFF-9E45CF43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650251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6C2BB5-36AF-49C0-ACD7-3D8141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人間が介入する境界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7B0D0-FEEE-4AEF-B009-635CB602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通常処理を自動化し、判断や不可逆な変更だけを止める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BB36E-6E4E-40C8-A695-C3C1E8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22060-7B3E-44E3-8366-60B19275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2667000" cy="38576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79D9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35C18-B291-4553-B7DB-0AF2F4BD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66571-7BFB-427A-BA0D-083FEEA0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自動実行・自動Merge候補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4C6FC-ED80-4CB8-9E1F-D4148380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BF058-08BD-425A-B8CB-6242C209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テスト追加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99E4B-FEFB-43AE-97ED-148DE890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6DBFE-606F-4565-874C-223568FE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文書整合性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6BF56-53A6-46BB-962F-DC8D11B3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338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6DAE7-872D-4416-AF0B-36FBA819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862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限定的な内部リファクタ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9AD00-2579-43BD-80D2-FC075F88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0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D8D88-203D-46C8-B79D-9690E356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安全な依存更新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88162E-3737-4EF9-9CE4-90FF1614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2667000" cy="38576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F4C76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1EF97-32A9-4B60-8252-33470AC7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04787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MEDIUM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97696-7571-4978-8E27-96B52361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55270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PR作成後に人間確認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E2BCA-B2B0-4C96-8108-D0857333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381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459982-BAD2-4CC4-899C-67B2DB67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337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ユーザー動作の変更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C8D77-1BC8-462B-8F8E-17980961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8576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131BEF-D42F-4E00-8592-2360F6E8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100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新しい依存関係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08513-99C3-4B39-9662-9098313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3338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D90DD8-1E83-42BA-AF60-5EE5A1DA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2862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複数領域への変更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8B48F3-7B35-4F71-8FCA-0DA9051E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810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EF9C49-2214-4C82-BBC0-96418745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7625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大きな差分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1384FB-F461-40DA-B31C-34E89915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2667000" cy="38576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FF806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E90456-D8F4-42B0-8E2B-5A2E2D73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HIGH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286225-BC3C-4355-971A-B9F00B9B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実装開始前に方針確認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9C67CD-0E2D-4254-91FF-53637BB4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81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E46CF0-C12C-4C20-B044-56837A69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認証・決済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F2D920-E5D0-47CB-90F5-64FF8857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576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9DA3EB-4BCC-42E6-8105-79A228B3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個人情報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A802EF-4F6C-4226-9CCE-E2791EEB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338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FD868F-F78F-4B61-AC3F-1760B74B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862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破壊的DB変更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74FCBA-DB4E-46E3-8AA2-80526E71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0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354394-42D2-4225-B675-BF0937EA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625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権限・CI設定変更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933F60-99F0-4885-8C4A-C67E6EC9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62125"/>
            <a:ext cx="2619375" cy="3857625"/>
          </a:xfrm>
          <a:prstGeom xmlns:a="http://schemas.openxmlformats.org/drawingml/2006/main" prst="roundRect">
            <a:avLst>
              <a:gd name="adj" fmla="val 5818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5E708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64648A-32B5-4098-A7F3-65A65453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47875"/>
            <a:ext cx="216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OUT OF SCOPE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77FE45-A5AA-4122-93DF-8BBEEB62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52700"/>
            <a:ext cx="2162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初期版では実行しない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D14643-EAB8-4FF2-B6BE-B2DD9551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381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7FFC82-CCB1-4070-A10F-A8A918A2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333750"/>
            <a:ext cx="1743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本番デプロイ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FD3A9F-1BAF-47FD-B36E-C90B1E4D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8576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3165F6-C4D3-4690-9A3B-FDA7D9DE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0000"/>
            <a:ext cx="1743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本番データ操作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37A539-541F-44C5-9B6A-226C29B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338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801496-09F5-4714-B451-FFEE62A3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86250"/>
            <a:ext cx="1743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秘密情報の変更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777132-8C61-4B01-8E9E-CD7D5C83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810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A09718-5008-4DDD-88B3-F6C84B69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762500"/>
            <a:ext cx="1743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保護ルールの回避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CFE7F6-F397-4FBD-A734-BB1AFD8C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判定ルールはコード化し、Agentの自己申告だけでリスクを下げない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04D72C-9AB7-4EA7-BBDA-51C17E7A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8132B8-CCF0-4F10-A748-79DE08B4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230135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A43F1C-F111-4099-B573-AE6C4E8D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使用枠連動スケジューラ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64F3E2-7AC4-475C-A275-0B26C6FD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価値の高い仕事を先に並べ、残量は同順位タスクの割当に使う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40B65-9B1E-4EFE-8460-F7731D33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469F7-78DF-483F-AE91-32968AE6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2667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65B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10A03-BCFC-4753-94D8-EB7D2EA8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FFF"/>
          </a:solidFill>
          <a:ln xmlns:a="http://schemas.openxmlformats.org/drawingml/2006/main" w="0">
            <a:solidFill>
              <a:srgbClr val="65B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941A4-1D2C-4404-9D83-DF7E201F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240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Ready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624E5-727C-440F-8059-8B6E7B51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優先度・リスク・対象ファイル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25668-F27F-4CB3-962C-30A612D5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14500"/>
            <a:ext cx="2952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A990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FB5DFE-7F59-4F02-A62A-7355C310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14500"/>
            <a:ext cx="666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90FF"/>
          </a:solidFill>
          <a:ln xmlns:a="http://schemas.openxmlformats.org/drawingml/2006/main" w="0">
            <a:solidFill>
              <a:srgbClr val="A990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8E76C-BB77-413A-93DB-E778B4F3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288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Scheduler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BC6F5-B408-452A-A4C1-35C9DE15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62175"/>
            <a:ext cx="2628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残量  /  リセットまで</a:t>
            </a:r>
          </a:p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成功率  /  平均所要時間</a:t>
            </a:r>
          </a:p>
        </p:txBody>
      </p:sp>
      <p:cxnSp>
        <p:nvCxnSpPr>
          <p:cNvPr id="59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286125" y="2309813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90FF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EECB5-8810-4D05-AE0E-19CEFFA2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71625"/>
            <a:ext cx="2667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30D5B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E6F380-EE64-4528-8BBD-DC4AC1CB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71625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BB36A0-122B-4005-8AC9-0B2C8D98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85925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Agent 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60B6E-CBBF-429E-B091-CB4435D6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193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複雑な実装</a:t>
            </a:r>
          </a:p>
        </p:txBody>
      </p:sp>
      <p:cxnSp>
        <p:nvCxnSpPr>
          <p:cNvPr id="64" name=""/>
          <p:cNvCxnSpPr>
            <a:stCxn xmlns:a="http://schemas.openxmlformats.org/drawingml/2006/main" id="8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7572375" y="2071688"/>
            <a:ext cx="1285875" cy="238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0D5B2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79D857-25C2-4A2B-86D5-48262BD3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288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利用可能枠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8FCBE-8953-4641-B289-C94CDC17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66950"/>
            <a:ext cx="1238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0425C"/>
          </a:solidFill>
          <a:ln xmlns:a="http://schemas.openxmlformats.org/drawingml/2006/main" w="0">
            <a:solidFill>
              <a:srgbClr val="3042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D04B56-A90B-4F1F-A491-A030312F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66950"/>
            <a:ext cx="89154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0D5B2"/>
          </a:solidFill>
          <a:ln xmlns:a="http://schemas.openxmlformats.org/drawingml/2006/main" w="0">
            <a:solidFill>
              <a:srgbClr val="30D5B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DE2DE5-2158-4588-8185-F9C5DAED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2667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79D99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021B75-22D9-46CB-9940-8B3D1B93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2CC332-CF89-4B1D-A130-62E6F42D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Agent 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9CAC1B-BF86-467A-8FCC-8F75508B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004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独立レビュー</a:t>
            </a:r>
          </a:p>
        </p:txBody>
      </p:sp>
      <p:cxnSp>
        <p:nvCxnSpPr>
          <p:cNvPr id="72" name=""/>
          <p:cNvCxnSpPr>
            <a:stCxn xmlns:a="http://schemas.openxmlformats.org/drawingml/2006/main" id="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572375" y="2309813"/>
            <a:ext cx="1285875" cy="1143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79D995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6340B-FCFD-4BDD-83B2-16E20F03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099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利用可能枠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C8044F-745E-41A2-9C4D-6744C247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48075"/>
            <a:ext cx="1238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0425C"/>
          </a:solidFill>
          <a:ln xmlns:a="http://schemas.openxmlformats.org/drawingml/2006/main" w="0">
            <a:solidFill>
              <a:srgbClr val="3042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0BADE3-5F0B-4511-A17D-044B24E4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48075"/>
            <a:ext cx="56959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9D995"/>
          </a:solidFill>
          <a:ln xmlns:a="http://schemas.openxmlformats.org/drawingml/2006/main" w="0">
            <a:solidFill>
              <a:srgbClr val="79D99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765C58-B473-45AC-9E06-D9F79B9A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33875"/>
            <a:ext cx="2667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2238"/>
          </a:solidFill>
          <a:ln xmlns:a="http://schemas.openxmlformats.org/drawingml/2006/main" w="14288">
            <a:solidFill>
              <a:srgbClr val="F4C7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3FBF9C-33D9-40C0-A9FB-52641091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33875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E102D1-DEBF-4152-A057-C8590424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48175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Agent 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402993-3C30-4A90-AA83-34B053F8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7815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探索・小規模修正</a:t>
            </a:r>
          </a:p>
        </p:txBody>
      </p:sp>
      <p:cxnSp>
        <p:nvCxnSpPr>
          <p:cNvPr id="80" name=""/>
          <p:cNvCxnSpPr>
            <a:stCxn xmlns:a="http://schemas.openxmlformats.org/drawingml/2006/main" id="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7572375" y="2309813"/>
            <a:ext cx="1285875" cy="2524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4C76B"/>
            </a:solidFill>
            <a:prstDash val="solid"/>
            <a:tailEnd type="triangle" w="sm" len="sm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AFE1B2-311C-4479-8734-03AF578C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911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利用可能枠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DAE21A-4DB2-4029-AA97-1318A82A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29200"/>
            <a:ext cx="1238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0425C"/>
          </a:solidFill>
          <a:ln xmlns:a="http://schemas.openxmlformats.org/drawingml/2006/main" w="0">
            <a:solidFill>
              <a:srgbClr val="30425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1385D3-05B3-4331-874A-50D9BB27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29200"/>
            <a:ext cx="108966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76B"/>
          </a:solidFill>
          <a:ln xmlns:a="http://schemas.openxmlformats.org/drawingml/2006/main" w="0">
            <a:solidFill>
              <a:srgbClr val="F4C76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06AC08-2AD0-4CC5-9E17-32904BD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制約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E53FD9-A7DB-4323-A821-B3270719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8E6B2-792B-49CD-9B63-F8E5AEEC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同時実行数とProvider制限を守る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CF8080-D93A-43E0-AD96-C74C2FE0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039088-FA9F-451D-9513-6C288E83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38675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IssueごとにRun・時間・使用量の上限を持つ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E8BAFC-4ED0-445C-B2E1-52BBB4F7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ED4DA3-1AED-45C7-9F5B-D713600A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同一ファイルを触るタスクは直列化する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27C744-9858-4526-A394-6EEC0D60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9A800-E284-4844-B7DC-D60DA637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57825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0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消費だけを目的としたタスクを作らない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40A4E0-4308-40DD-AE98-91207454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B3E2FA-5F0E-4082-902F-E92BECA3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65789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1FB9E8-C113-42C3-8CB9-E91A5F6F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3150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段階導入と未決定事項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6A3A1-F479-4E7E-B127-45634ED8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最初の完成ラインは、低リスクIssueの自動生成からDraft PRまで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60C72-195F-4CB9-B8C5-27314567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42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9496A-3C84-41DA-918B-134E19CE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2428875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FF806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D044F-49C1-4C96-BD6A-12C487DD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FF806F"/>
                </a:solidFill>
                <a:latin typeface="Hiragino Sans"/>
                <a:ea typeface="Hiragino Sans"/>
                <a:cs typeface="Hiragino Sans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5ABC4-3CB8-4EA4-BCF6-C0CFD3E3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240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安全基盤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040B9-DAD4-4CC7-BDD7-0A991EA2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195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Agent生成コマンドの隔離</a:t>
            </a:r>
          </a:p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実行上限と停止処理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B9898-70E8-4A22-AFC2-468CD811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14500"/>
            <a:ext cx="2428875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A990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2077B-EC3F-40ED-AEE2-CF565436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90500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A990FF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A990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3883F-A7C6-4C03-B82D-008B3447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240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並列実行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4277D-F9E3-4EFC-843F-5C093733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57450"/>
            <a:ext cx="195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branch / worktree</a:t>
            </a:r>
          </a:p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競合検出とリース</a:t>
            </a:r>
          </a:p>
        </p:txBody>
      </p:sp>
      <p:cxnSp>
        <p:nvCxnSpPr>
          <p:cNvPr id="49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000375" y="2452688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07AC9-02CC-496E-87D8-EAE26F4A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2428875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30D5B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E49DB-951C-446B-BE83-B089F216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30D5B2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17181-F75C-4F63-A85F-A10496E5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240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 Factory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85E14-9CF3-4296-A290-D99F1B31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57450"/>
            <a:ext cx="195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根拠付き候補</a:t>
            </a:r>
          </a:p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重複・リスク判定</a:t>
            </a:r>
          </a:p>
        </p:txBody>
      </p:sp>
      <p:cxnSp>
        <p:nvCxnSpPr>
          <p:cNvPr id="54" name=""/>
          <p:cNvCxnSpPr>
            <a:stCxn xmlns:a="http://schemas.openxmlformats.org/drawingml/2006/main" id="8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10250" y="2452688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68B31-653D-45A3-B212-AD40B1CF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14500"/>
            <a:ext cx="2428875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0E1A2C"/>
          </a:solidFill>
          <a:ln xmlns:a="http://schemas.openxmlformats.org/drawingml/2006/main" w="23813">
            <a:solidFill>
              <a:srgbClr val="79D99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1D042-33E3-49C8-B793-8FD48F5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79D995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C38205-1204-4C0A-ABB8-03E771B4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PRループ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C37D08-5773-4B19-AADC-9D70D77B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57450"/>
            <a:ext cx="195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CI修復・独立レビュー</a:t>
            </a:r>
          </a:p>
          <a:p xmlns:a="http://schemas.openxmlformats.org/drawingml/2006/main">
            <a:pPr algn="l">
              <a:def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Draft PR作成</a:t>
            </a:r>
          </a:p>
        </p:txBody>
      </p:sp>
      <p:cxnSp>
        <p:nvCxnSpPr>
          <p:cNvPr id="59" name=""/>
          <p:cNvCxnSpPr>
            <a:stCxn xmlns:a="http://schemas.openxmlformats.org/drawingml/2006/main" id="13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20125" y="2452688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0425C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FA92C-5485-407D-90E4-F316C9B6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6237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設計を練り直す論点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6E1C0-F73A-4926-93A8-209B3172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26D3C2-C6FD-49A9-80F9-0B708A29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正式な状態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0E4517-C014-4788-BC2A-D10F1811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305300"/>
            <a:ext cx="823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GitHubを唯一の正とするか、ローカル状態を併用するか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CB3D5C-A218-4A64-B213-BC857FD4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9107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CDD11-532C-4119-ACF9-5922217B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Issue生成範囲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034DE5-93FB-4172-B41E-48F0C18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762500"/>
            <a:ext cx="823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保守改善だけか、承認済みロードマップから機能も作るか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9C3327-1E6C-4F3C-BBE8-C20D02EE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4827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654ADA-46C0-4B70-9610-D7B95FDD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自動Merge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7CB257-0FD8-4550-BA7E-25AC397E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219700"/>
            <a:ext cx="823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いつ開放し、どの変更種別まで許可するか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F31F44-D2F6-40C7-9A1B-04DD1B17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0547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4C76B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AECB3E-3F4C-4C0D-94F3-8CEB75AF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769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5F7FA"/>
                </a:solidFill>
                <a:latin typeface="Hiragino Sans"/>
                <a:ea typeface="Hiragino Sans"/>
                <a:cs typeface="Hiragino Sans"/>
              </a:rPr>
              <a:t>割当目標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D88501-4AC6-4CE1-8731-4DD4933E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676900"/>
            <a:ext cx="823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0">
                <a:solidFill>
                  <a:srgbClr val="9AAAC0"/>
                </a:solidFill>
                <a:latin typeface="Hiragino Sans"/>
                <a:ea typeface="Hiragino Sans"/>
                <a:cs typeface="Hiragino Sans"/>
              </a:rPr>
              <a:t>使用枠消化より、価値・成功率・待ち時間をどう優先するか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0178CF-C509-4E40-91E3-4C44370C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設計ドラフト  2026-09-14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BDFF34-0867-454F-B3DB-FF95D328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5E708A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904027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2026-09-13T19:20:23.7140000Z</dcterms:created>
  <dcterms:modified xsi:type="dcterms:W3CDTF">2026-09-13T19:20:23.7140000Z</dcterms:modified>
</coreProperties>
</file>