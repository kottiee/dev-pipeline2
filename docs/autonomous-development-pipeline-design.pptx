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00c328e5345d4" /><Relationship Type="http://schemas.openxmlformats.org/officeDocument/2006/relationships/extended-properties" Target="/docProps/app.xml" Id="R3a20c225029f4d25" /><Relationship Type="http://schemas.openxmlformats.org/officeDocument/2006/relationships/officeDocument" Target="/ppt/presentation.xml" Id="R04264a561a5e47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44700c7b9245d2"/>
  </p:sldMasterIdLst>
  <p:notesMasterIdLst>
    <p:notesMasterId xmlns:r="http://schemas.openxmlformats.org/officeDocument/2006/relationships" r:id="Rcc3f2e9b43614b5f"/>
  </p:notesMasterIdLst>
  <p:sldIdLst>
    <p:sldId xmlns:r="http://schemas.openxmlformats.org/officeDocument/2006/relationships" id="256" r:id="R8a51ce4eb6a74fbe"/>
    <p:sldId xmlns:r="http://schemas.openxmlformats.org/officeDocument/2006/relationships" id="257" r:id="Rc2b39b6439764670"/>
    <p:sldId xmlns:r="http://schemas.openxmlformats.org/officeDocument/2006/relationships" id="258" r:id="R098ea7b6118442d2"/>
    <p:sldId xmlns:r="http://schemas.openxmlformats.org/officeDocument/2006/relationships" id="259" r:id="Re28b6ca1f111428e"/>
    <p:sldId xmlns:r="http://schemas.openxmlformats.org/officeDocument/2006/relationships" id="260" r:id="Re1071ec62ea74b47"/>
    <p:sldId xmlns:r="http://schemas.openxmlformats.org/officeDocument/2006/relationships" id="261" r:id="Rfede8020a5704f02"/>
    <p:sldId xmlns:r="http://schemas.openxmlformats.org/officeDocument/2006/relationships" id="262" r:id="R9e45887a37cd4dd2"/>
    <p:sldId xmlns:r="http://schemas.openxmlformats.org/officeDocument/2006/relationships" id="263" r:id="Rbbe1bfbf7aa94deb"/>
    <p:sldId xmlns:r="http://schemas.openxmlformats.org/officeDocument/2006/relationships" id="264" r:id="Rb098fc17eee548ac"/>
    <p:sldId xmlns:r="http://schemas.openxmlformats.org/officeDocument/2006/relationships" id="265" r:id="R8520a99b98b04120"/>
    <p:sldId xmlns:r="http://schemas.openxmlformats.org/officeDocument/2006/relationships" id="266" r:id="R1d0b71def3574ee0"/>
    <p:sldId xmlns:r="http://schemas.openxmlformats.org/officeDocument/2006/relationships" id="267" r:id="Raddd93fc82d74a1e"/>
    <p:sldId xmlns:r="http://schemas.openxmlformats.org/officeDocument/2006/relationships" id="268" r:id="R1b547234641e4e74"/>
    <p:sldId xmlns:r="http://schemas.openxmlformats.org/officeDocument/2006/relationships" id="269" r:id="R63cd2b232ce94b65"/>
    <p:sldId xmlns:r="http://schemas.openxmlformats.org/officeDocument/2006/relationships" id="270" r:id="R584cd0ab44de4c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db98121f4a4db3" /><Relationship Type="http://schemas.openxmlformats.org/officeDocument/2006/relationships/slideMaster" Target="/ppt/slideMasters/slideMaster1.xml" Id="Re444700c7b9245d2" /><Relationship Type="http://schemas.openxmlformats.org/officeDocument/2006/relationships/notesMaster" Target="/ppt/notesMasters/notesMaster1.xml" Id="Rcc3f2e9b43614b5f" /><Relationship Type="http://schemas.openxmlformats.org/officeDocument/2006/relationships/presProps" Target="/ppt/presProps.xml" Id="R333d8760c1b348d1" /><Relationship Type="http://schemas.openxmlformats.org/officeDocument/2006/relationships/tableStyles" Target="/ppt/tableStyles.xml" Id="R842a6dbff1fd4a48" /><Relationship Type="http://schemas.openxmlformats.org/officeDocument/2006/relationships/slide" Target="/ppt/slides/slide1.xml" Id="R8a51ce4eb6a74fbe" /><Relationship Type="http://schemas.openxmlformats.org/officeDocument/2006/relationships/slide" Target="/ppt/slides/slide2.xml" Id="Rc2b39b6439764670" /><Relationship Type="http://schemas.openxmlformats.org/officeDocument/2006/relationships/slide" Target="/ppt/slides/slide3.xml" Id="R098ea7b6118442d2" /><Relationship Type="http://schemas.openxmlformats.org/officeDocument/2006/relationships/slide" Target="/ppt/slides/slide4.xml" Id="Re28b6ca1f111428e" /><Relationship Type="http://schemas.openxmlformats.org/officeDocument/2006/relationships/slide" Target="/ppt/slides/slide5.xml" Id="Re1071ec62ea74b47" /><Relationship Type="http://schemas.openxmlformats.org/officeDocument/2006/relationships/slide" Target="/ppt/slides/slide6.xml" Id="Rfede8020a5704f02" /><Relationship Type="http://schemas.openxmlformats.org/officeDocument/2006/relationships/slide" Target="/ppt/slides/slide7.xml" Id="R9e45887a37cd4dd2" /><Relationship Type="http://schemas.openxmlformats.org/officeDocument/2006/relationships/slide" Target="/ppt/slides/slide8.xml" Id="Rbbe1bfbf7aa94deb" /><Relationship Type="http://schemas.openxmlformats.org/officeDocument/2006/relationships/slide" Target="/ppt/slides/slide9.xml" Id="Rb098fc17eee548ac" /><Relationship Type="http://schemas.openxmlformats.org/officeDocument/2006/relationships/slide" Target="/ppt/slides/slide10.xml" Id="R8520a99b98b04120" /><Relationship Type="http://schemas.openxmlformats.org/officeDocument/2006/relationships/slide" Target="/ppt/slides/slide11.xml" Id="R1d0b71def3574ee0" /><Relationship Type="http://schemas.openxmlformats.org/officeDocument/2006/relationships/slide" Target="/ppt/slides/slide12.xml" Id="Raddd93fc82d74a1e" /><Relationship Type="http://schemas.openxmlformats.org/officeDocument/2006/relationships/slide" Target="/ppt/slides/slide13.xml" Id="R1b547234641e4e74" /><Relationship Type="http://schemas.openxmlformats.org/officeDocument/2006/relationships/slide" Target="/ppt/slides/slide14.xml" Id="R63cd2b232ce94b65" /><Relationship Type="http://schemas.openxmlformats.org/officeDocument/2006/relationships/slide" Target="/ppt/slides/slide15.xml" Id="R584cd0ab44de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1d077a2d2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945b312484d0c" /><Relationship Type="http://schemas.openxmlformats.org/officeDocument/2006/relationships/notesMaster" Target="/ppt/notesMasters/notesMaster1.xml" Id="Reab4b8880331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2e11502ab7457d" /><Relationship Type="http://schemas.openxmlformats.org/officeDocument/2006/relationships/notesMaster" Target="/ppt/notesMasters/notesMaster1.xml" Id="R7d46f5a912d9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d6e82956d4b10" /><Relationship Type="http://schemas.openxmlformats.org/officeDocument/2006/relationships/notesMaster" Target="/ppt/notesMasters/notesMaster1.xml" Id="R51673fc05b1a4f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2b675227bc4be7" /><Relationship Type="http://schemas.openxmlformats.org/officeDocument/2006/relationships/notesMaster" Target="/ppt/notesMasters/notesMaster1.xml" Id="Rfd65784d0a634a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545ce24c840fb" /><Relationship Type="http://schemas.openxmlformats.org/officeDocument/2006/relationships/notesMaster" Target="/ppt/notesMasters/notesMaster1.xml" Id="R922ea8c4b88d4d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99992cc65466f" /><Relationship Type="http://schemas.openxmlformats.org/officeDocument/2006/relationships/notesMaster" Target="/ppt/notesMasters/notesMaster1.xml" Id="R487e7f0532304e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70d6f09d654a0e" /><Relationship Type="http://schemas.openxmlformats.org/officeDocument/2006/relationships/notesMaster" Target="/ppt/notesMasters/notesMaster1.xml" Id="Ref0a0f429d254f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000ab59b54498f" /><Relationship Type="http://schemas.openxmlformats.org/officeDocument/2006/relationships/notesMaster" Target="/ppt/notesMasters/notesMaster1.xml" Id="R1a1d6334ba894b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802e12e9dd4c30" /><Relationship Type="http://schemas.openxmlformats.org/officeDocument/2006/relationships/notesMaster" Target="/ppt/notesMasters/notesMaster1.xml" Id="Rfc0ea20fbf6f4e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ec0a64172b4cd7" /><Relationship Type="http://schemas.openxmlformats.org/officeDocument/2006/relationships/notesMaster" Target="/ppt/notesMasters/notesMaster1.xml" Id="Rf583b6412beb40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9847c27734407d" /><Relationship Type="http://schemas.openxmlformats.org/officeDocument/2006/relationships/notesMaster" Target="/ppt/notesMasters/notesMaster1.xml" Id="R0649156057ff4e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8e448559704b64" /><Relationship Type="http://schemas.openxmlformats.org/officeDocument/2006/relationships/notesMaster" Target="/ppt/notesMasters/notesMaster1.xml" Id="Rb74a5a7af7d545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e1fa449ade4207" /><Relationship Type="http://schemas.openxmlformats.org/officeDocument/2006/relationships/notesMaster" Target="/ppt/notesMasters/notesMaster1.xml" Id="Rbe4d53742dee49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074abe68f543df" /><Relationship Type="http://schemas.openxmlformats.org/officeDocument/2006/relationships/notesMaster" Target="/ppt/notesMasters/notesMaster1.xml" Id="R66442822da2643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ed1b4a684c42b9" /><Relationship Type="http://schemas.openxmlformats.org/officeDocument/2006/relationships/notesMaster" Target="/ppt/notesMasters/notesMaster1.xml" Id="R93bd1d311e0e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https://github.com/Kottiee/dev-pipeline2/issues/22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behavior sources: /Users/natto/Projects/dev-pipeline2/README.md and spec.md. Target design: GitHub Issue #22.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https://github.com/Kottiee/dev-pipeline2/issues/22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GitHub Issue #22. Issue candidates require evidence and machine-checkable acceptance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Related repository issues: #17 Failure Recovery, #20 Diagnostic Agent, #21 reviewer-generated test isolation.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implementation: /Users/natto/Projects/dev-pipeline2/dev_pipeline/prompts/run.txt and dev_pipeline/pipeline.py lines 146-148.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 examples are the proposed policy baseline from GitHub Issue #22 and the design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repository already records token and allocation usage. Proposed change uses capacity data for scheduling while preserving task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and agent-originated issues converge after different intake checks. Production telemetry is outside the initial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refinement agent should batch questions and proceed on explicit, reversible assumptions whenever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source remains metadata. Human-origin does not bypass readiness or risk checks. A human pin can override ordering.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wording deliberately avoids calling newly generated tests trusted. The CI control plane is independent from the implementation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Retries are bounded by run count, elapsed time and usage budget. Work and evidence remain available when a run stops.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repository capabilities were reviewed in README.md, spec.md, dev_pipeline/pipeline.py, allocation.py and usage.py.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GitHub Issue #22. These four decisions should be resolved before implementation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c9f86338244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b8c3b37f414b44" /><Relationship Type="http://schemas.openxmlformats.org/officeDocument/2006/relationships/slideLayout" Target="/ppt/slideLayouts/slideLayout1.xml" Id="R3bc81bb3e7d2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81bb3e7d2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c5a6bf816403e" /><Relationship Type="http://schemas.openxmlformats.org/officeDocument/2006/relationships/notesSlide" Target="/ppt/notesSlides/notesSlide1.xml" Id="R922820ced41c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92fe9126044ff" /><Relationship Type="http://schemas.openxmlformats.org/officeDocument/2006/relationships/notesSlide" Target="/ppt/notesSlides/notesSlide2.xml" Id="Rbf775728b4e146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7fa39f7a4fe0" /><Relationship Type="http://schemas.openxmlformats.org/officeDocument/2006/relationships/notesSlide" Target="/ppt/notesSlides/notesSlide3.xml" Id="R628d33077eda44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d59c008114071" /><Relationship Type="http://schemas.openxmlformats.org/officeDocument/2006/relationships/notesSlide" Target="/ppt/notesSlides/notesSlide4.xml" Id="R27acb667eff2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29b079c724ec9" /><Relationship Type="http://schemas.openxmlformats.org/officeDocument/2006/relationships/notesSlide" Target="/ppt/notesSlides/notesSlide5.xml" Id="Ra2d58ac13fbb45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d482d21ca4595" /><Relationship Type="http://schemas.openxmlformats.org/officeDocument/2006/relationships/notesSlide" Target="/ppt/notesSlides/notesSlide6.xml" Id="R8300b2061f7348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d647342214f01" /><Relationship Type="http://schemas.openxmlformats.org/officeDocument/2006/relationships/notesSlide" Target="/ppt/notesSlides/notesSlide7.xml" Id="R8999c22f4faa4a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fe25448374775" /><Relationship Type="http://schemas.openxmlformats.org/officeDocument/2006/relationships/notesSlide" Target="/ppt/notesSlides/notesSlide8.xml" Id="R6e54da95fc8545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1dfdc9cf54c6f" /><Relationship Type="http://schemas.openxmlformats.org/officeDocument/2006/relationships/notesSlide" Target="/ppt/notesSlides/notesSlide9.xml" Id="R52a5166c48734a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7459a9e64769" /><Relationship Type="http://schemas.openxmlformats.org/officeDocument/2006/relationships/notesSlide" Target="/ppt/notesSlides/notesSlide10.xml" Id="Rb8e98786b44448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773a25414bc4" /><Relationship Type="http://schemas.openxmlformats.org/officeDocument/2006/relationships/notesSlide" Target="/ppt/notesSlides/notesSlide11.xml" Id="R7758cd4924904f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33dbc3b1745b9" /><Relationship Type="http://schemas.openxmlformats.org/officeDocument/2006/relationships/notesSlide" Target="/ppt/notesSlides/notesSlide12.xml" Id="R6c0dddec03934c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395ac826b4311" /><Relationship Type="http://schemas.openxmlformats.org/officeDocument/2006/relationships/notesSlide" Target="/ppt/notesSlides/notesSlide13.xml" Id="R6428d575dc8140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a1f000263437f" /><Relationship Type="http://schemas.openxmlformats.org/officeDocument/2006/relationships/notesSlide" Target="/ppt/notesSlides/notesSlide14.xml" Id="R03e3ad283b374a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eb03f29004c83" /><Relationship Type="http://schemas.openxmlformats.org/officeDocument/2006/relationships/notesSlide" Target="/ppt/notesSlides/notesSlide15.xml" Id="R9dd4f73a996647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7EFEA-3A67-4593-A26F-ADF45FE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49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自律開発パイプライン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09661-5C75-4120-B2F1-A33E6142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粗いアイデアと自動発見から、検証済みPRまで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241EE-2D4B-4146-85BE-94803055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全体図・詳細図 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8AD48-E264-4DBA-A832-A9AA9DE0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381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19050">
            <a:solidFill>
              <a:srgbClr val="65B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ACCB3-E2FA-496D-8659-D73C82B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発見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FABBE-924B-46CD-8BAF-8A017156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48250"/>
            <a:ext cx="1381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19050">
            <a:solidFill>
              <a:srgbClr val="F4C7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A7435-83C8-4595-A3C7-343A174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48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選別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5324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641FF-2672-44FC-9943-542D98A2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1381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19050">
            <a:solidFill>
              <a:srgbClr val="A99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81F8E-4FD7-40C3-A5AF-AE4E063E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90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A990FF"/>
                </a:solidFill>
                <a:latin typeface="Hiragino Sans"/>
                <a:ea typeface="Hiragino Sans"/>
                <a:cs typeface="Hiragino Sans"/>
              </a:rPr>
              <a:t>割当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05250" y="5324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355DA-693E-42CC-BE3F-A2B590C5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1381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19050">
            <a:solidFill>
              <a:srgbClr val="30D5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45D4A-603B-4BBA-ADC2-9B9F3DE1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実装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5324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6B855-80E7-4EE8-9DB0-1635A03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381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19050">
            <a:solidFill>
              <a:srgbClr val="79D99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2D252-07C0-4710-8A5D-D9753EA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</p:txBody>
      </p: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429500" y="5324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E9673-758D-42E2-8B07-AC350B0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48250"/>
            <a:ext cx="13811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19050">
            <a:solidFill>
              <a:srgbClr val="FF80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1178E-1333-4C50-85E6-942451C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4825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PR</a:t>
            </a:r>
          </a:p>
        </p:txBody>
      </p:sp>
      <p:cxnSp>
        <p:nvCxnSpPr>
          <p:cNvPr id="41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91625" y="53244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63BFB-48EC-478D-862C-16B97B7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GitHub Issue #22 を基に再整理</a:t>
            </a:r>
          </a:p>
        </p:txBody>
      </p:sp>
    </p:spTree>
    <p:extLst>
      <p:ext uri="{BB962C8B-B14F-4D97-AF65-F5344CB8AC3E}">
        <p14:creationId xmlns:p14="http://schemas.microsoft.com/office/powerpoint/2010/main" val="279354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76723E-420C-46B6-8809-B0A4F59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目指す自律化の範囲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8DEA5-7B54-4C05-A14F-6A7D212F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人の粗いアイデアとAgentの改善提案を、同じ開発キューへ統合する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FE5B5-A08C-4099-B8EE-CDDE2E23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4C45A-F0C3-48AC-AED5-99C0BC4B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現在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E139E-7FD6-4C23-94B5-DBE13F7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238D7-81C8-49E4-BD11-EFA668B6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9B0B-887B-4F7A-8783-221AEE6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人がIssueを登録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F07EF-9E01-400A-A40C-C407A11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目的と条件を入力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F6362-E9AA-4E21-8E26-438A1349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1BA16-ACC0-48EA-85C3-0E9A96C9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1E3DA-0A5E-49C4-B4B8-1ECAFE10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621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AIが実装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C2EC7-EBE3-45C1-A1B0-E31DFF43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テストと修正を反復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1F9EE-6A83-41B5-A042-C5BE9857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476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CD0C4-F1F8-49EF-BC28-28F59DA2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9B5BF-9778-4AF2-A89E-1AB9DDD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フェーズごとに承認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CC919-5884-41F2-95EE-97459624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人が毎回判断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A28AC-5D3F-4676-9196-B7DF5C0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2000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5E70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490D4-621A-4C5D-8C8F-FFF8CF6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08A"/>
          </a:solidFill>
          <a:ln xmlns:a="http://schemas.openxmlformats.org/drawingml/2006/main" w="0">
            <a:solidFill>
              <a:srgbClr val="5E70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EEE75-2765-454D-89D3-FC53B31C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621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RESOLVED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E92B2-E67A-41C0-822C-9D585309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PRやデプロイとは未接続</a:t>
            </a:r>
          </a:p>
        </p:txBody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4325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48750" y="25241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EE3B6-9DFB-4F2F-9EBF-B139B808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今回の目標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C8458-4166-4D97-B692-B4F65AC7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3FCD3-F8CF-403F-9C9C-A2534BB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259B7-2E0E-46CC-AEBE-CF444E49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人が粗いIssueを投入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8C973-F110-4003-BDC8-311C829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アイデアだけでも受け付ける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503B1-5E94-4338-B076-F2C0C127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1480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168DA-6117-4E67-8302-6F63068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148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B2528-E2EA-4AF4-B103-5A68DE7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29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AgentもIssueを提起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9969C-E31D-4CBC-86FD-ADD73A74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624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コード・CI・依存関係を観測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36E65-8626-490D-8E94-407AA7F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80E869-F620-42C2-95DC-8815A9E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FE5C5-4E4B-47EE-925F-A502BB2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共通の仕様化と優先付け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301A17-DFFD-41A5-AA3D-7116761F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6247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実行可能なIssueをReady Queueへ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F27B25-1AE9-4BD2-B0BB-AA9855A8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3F4FF3-A920-49B0-B280-01868A3E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4897F7-AC0D-4B23-8A70-5AEF1DE7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検証済みDraft PR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B00FEB-9C48-45DF-A061-376C492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62475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独立CIとレビューを通過</a:t>
            </a:r>
          </a:p>
        </p:txBody>
      </p:sp>
      <p:cxnSp>
        <p:nvCxnSpPr>
          <p:cNvPr id="88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43250" y="4629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096000" y="4629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048750" y="4629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4EDF64-D0E6-4975-8504-D8F0B49C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初期範囲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EF5E9-F22F-437A-895D-35D3E636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開発段階のIssue受付からDraft PRまで。 本番運用の監視とデプロイは対象外。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CEA4BE-FBE1-4C8A-8A76-71514E8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0FF5D7-4C57-4060-AE1B-207D0FD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6636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2C846-05CE-43F0-821F-69A65613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システム全体像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179AC-BFA1-4D59-BDA2-E09EDF8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GitHubを正式記録にし、ローカル側は実行と使用枠管理へ絞る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4C1E8-0E12-43A9-B386-376C0E82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8C37D-0946-4B04-B325-EA6B0F32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000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8F566-3A6C-471C-8AEF-21CBF9B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33356-690B-4C06-9883-267536A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1  Issue Intake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6AD8D-B9A0-4F42-B71D-6C2776B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人のIssue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Agent候補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40B9D-5B5C-41E1-A04E-F5C857C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66875"/>
            <a:ext cx="2000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96EB5-E599-4B0B-8B4F-EA51ED6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03FD8-8D6E-412B-B7B3-1B869267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811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2  Refinement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624C4-022B-47C4-9CE9-925496B0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1455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調査・仮定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受け入れ条件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6FF50-C134-40BC-8034-0DBF4ED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66875"/>
            <a:ext cx="2000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AB763-D444-42B5-9A53-D25D194D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256D3-D69D-4C5B-A886-DF238D30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811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3  Priority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4D1A8-20E4-40F6-97F2-E492508F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1455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重複・価値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リスク・依存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F28E5-9C1A-480B-8A5E-A4BF792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2000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B7914-BBFA-463D-8DA0-ED363E8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638A3-F464-444F-8800-74D05A44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8117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4  Capacity Broker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A86E-71AE-40FF-8018-9E3753B0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使用枠・適性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実行上限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2B988-BCF7-4F93-A49C-EFD26FBB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66875"/>
            <a:ext cx="17621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08563-DE00-4D24-919B-E26B570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668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92543-A1E9-42D1-8495-607AE51E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81175"/>
            <a:ext cx="143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5 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52C72-C264-4FD7-8046-CCB5BC7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438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branch</a:t>
            </a:r>
          </a:p>
          <a:p xmlns:a="http://schemas.openxmlformats.org/drawingml/2006/main">
            <a:pPr algn="l">
              <a:def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worktree</a:t>
            </a:r>
          </a:p>
        </p:txBody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24125" y="2309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05375" y="2309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286625" y="2309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67875" y="230981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98452-3FF1-4A78-9230-7D442DD0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57625"/>
            <a:ext cx="3714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BD197-3E05-4F25-87AF-9FB48000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57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1277C-CD06-40D0-BD23-C271D45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7192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6  Agents + 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562C3D-3A49-4213-8CB0-25E880CA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05300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テスト作成  /  実装  /  独立CIゲート  /  レビュー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8ECA8A-0A31-4151-8F77-EE619835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3714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30B13-9EFC-4AA9-9A27-C31D519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052CA3-3C5D-462F-9398-87E68FEA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7192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7  GitHub PR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BBEC09-4833-4F68-B99F-B8ED590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修正ループ  /  人間判断  /  条件付きMerge</a:t>
            </a:r>
          </a:p>
        </p:txBody>
      </p:sp>
      <p:cxnSp>
        <p:nvCxnSpPr>
          <p:cNvPr id="80" name=""/>
          <p:cNvCxnSpPr>
            <a:stCxn xmlns:a="http://schemas.openxmlformats.org/drawingml/2006/main" id="20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4476750" y="2952750"/>
            <a:ext cx="6310313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334125" y="4452938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32" idx="0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4476750" y="3629025"/>
            <a:ext cx="5095875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FF806F"/>
            </a:solidFill>
            <a:prstDash val="dash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D735F-5AC2-4393-8E78-0B4EF75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GitHub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3D0A5E-6EE2-4B80-818D-9674D79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Issue・PR・レビューの正式記録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CBE18-5CC1-4B1C-8AA5-ECA09E8E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72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Local WorkStore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12C55C-4552-4899-A1C1-0BFAEA4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67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実行リース・使用枠・ログ・再試行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E3534B-9BBC-421F-B2E9-7CB7E75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0D9705-BAE8-487A-A8A4-A2039475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1122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1C8024-7E97-44BE-99CC-FFAFBC0F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Issue受付と仕様化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1E069-9A41-4645-9AC4-00CD403C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入口は異なるが、実装前に同じReady条件へそろえる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6B7ED-C534-4AE2-B295-3B37F58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C3D6F-DE98-4EBD-AB97-69BBE6B9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92A1A-DC78-45AF-A077-0C1E74A8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02128-5501-4A77-913A-40E0227B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E2415-67C9-46AE-BDF6-1FB567B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人が投入した粗いIssue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785A3-2AC0-471D-85C7-3B0EE107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1E576-1FA7-4D91-840F-2F64492B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2983F-E93F-4633-86BD-DC4D5A35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CI失敗・Flaky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F7B7-3303-4951-9E81-0F61FEC6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35567-93D0-4843-96FC-E566A30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10DFF-DEE8-421A-A5E4-3E37CFD3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TODO・未テスト領域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C646D-3031-4A72-B074-FD6AC47E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EB5AF-BADE-43BC-8740-84A2C5C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E4B93-D890-4877-AB3B-456AEF50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依存更新・脆弱性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6C8F2-827F-4FDB-A1C9-B4CDD71B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57666-8454-4B4F-AFBD-64E0B8E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9F766-8CA0-437B-87CF-7B18A626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文書と実装の不一致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1BF30-5E2D-4CA5-B330-9A6A15A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381375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30D5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09524-AF17-4074-BF07-1B1DD001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Issue候補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FFDEB-0D7A-43DD-B341-F3655AF8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051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5163D-D94D-4B0B-AB5A-9376940E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765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人の意図または観測根拠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EC081-6395-42FB-BDC3-FCF7E7F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766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642AB-60C6-4298-866B-ABB7701F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480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コードと既存仕様の調査結果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B5A13-B49A-4D49-B64A-D5D3CF54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480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93BFA-F9F4-4919-88B8-3CA6A800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19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不足を補う明示的な仮定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95EE9-34A1-4CC8-AFE2-D95CDC9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77915-498E-47FE-8624-9C86166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909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機械判定できる受け入れ条件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13725-8E7A-4132-BFC4-AE54B7C6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91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A3C7C-0B23-4F7B-9EA0-731649A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62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推定規模と変更範囲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5F9EB-F2D4-41D0-9456-7454D86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14BFFB-EF35-4A7A-A044-DA8EB190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339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リスク・依存・重複判定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733800" y="2190750"/>
            <a:ext cx="790575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0425C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733800" y="2933700"/>
            <a:ext cx="790575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0425C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733800" y="3676650"/>
            <a:ext cx="790575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F4C76B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3733800" y="3714750"/>
            <a:ext cx="790575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0425C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3733800" y="3714750"/>
            <a:ext cx="790575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B5E6B5-5F37-4AA6-A6FF-AEC8AA64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5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判定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2E6F8A-88C5-400C-BC05-15CD3645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225AC2-08AE-4288-B2AD-7BAF2F5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098B32-3A71-4990-8695-8D205C81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自動実行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2CA76-A405-41D5-B3DE-2841F937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792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低リスク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小規模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機械検証可能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782D01-60B6-434D-9BE3-572CCFAE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25FCBE-D67D-4606-B26B-3C012DDD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F091C9-893F-4318-B844-FC73F8C9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909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質問待ち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D8A328-7512-4710-BE15-CA788840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結果が大きく変わる判断だけを集約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99DDE5-756E-4611-AE7F-422EBA3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EA85F7-B96A-41A9-9521-6BEBF5DA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5BD365-8B1B-4B04-A237-AAF40BC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244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保留・統合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C14838-0AA8-4064-9056-30189357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57800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重複・根拠不足・方針外</a:t>
            </a:r>
          </a:p>
        </p:txBody>
      </p:sp>
      <p:cxnSp>
        <p:nvCxnSpPr>
          <p:cNvPr id="108" name=""/>
          <p:cNvCxnSpPr>
            <a:stCxn xmlns:a="http://schemas.openxmlformats.org/drawingml/2006/main" id="20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7905750" y="2533650"/>
            <a:ext cx="76200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D995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2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905750" y="3714750"/>
            <a:ext cx="762000" cy="214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4C76B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20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905750" y="3714750"/>
            <a:ext cx="762000" cy="1485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B7E825-2EDF-4612-B43C-C4126884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1823BC-E5A6-4FBD-85D6-72EABBF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1201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69DE4C-F7FB-4BCB-81E2-943D117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自律実行ループ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DB786-2ED2-4562-B0B8-155DAC30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テスト作成、実装、機械判定、意味レビューの役割を分ける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54E12-A464-404E-A597-E0A8B63A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AFEA0-0C8A-4608-A3C3-5F6F0958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14AA4-AF90-42F3-B2A5-8491E1FC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DD122-C3BB-41CB-A825-D6D5FF2B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Scheduler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66F3B-2AFF-49CA-93F2-213AA090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24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使用枠・適性・上限から実行Agentを選ぶ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8D1C5-4469-4898-B38C-3850269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66875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4771B-807E-4816-8B1E-3863BCE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66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D4323-92DD-4055-BF00-7F69C5EB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811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専用worktree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E0F69-C9F5-4652-819E-B0B172CD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Issueごとのbranchと環境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D8BFC-8331-4366-81F0-44738298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6C651-7F3D-458B-99E4-1C3B07BC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2776E-1C81-4330-B1C6-29FA07E1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8117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Coding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C6715-DD59-4F6A-BFE9-0E3DBADF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Test Agentが追加</a:t>
            </a:r>
          </a:p>
          <a:p xmlns:a="http://schemas.openxmlformats.org/drawingml/2006/main">
            <a:pPr algn="l">
              <a:def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Implementation Agentが実装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A7B92-BE94-40CE-AF16-DB317F61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20B9E-AAC7-4ADC-AB59-C8607DA4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4559D-A53A-4D62-BC66-C4DC8156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8117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Independent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F42DA-D529-4372-A7AA-123DBBF6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保護された定義で機械判定</a:t>
            </a:r>
          </a:p>
        </p:txBody>
      </p:sp>
      <p:cxnSp>
        <p:nvCxnSpPr>
          <p:cNvPr id="6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96000" y="2105025"/>
            <a:ext cx="476250" cy="619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9048750" y="2105025"/>
            <a:ext cx="476250" cy="6191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8FB1B-72C1-49D6-B3B0-24AA1363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30C1B-6FFA-4F30-8E6E-CD713F86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7E556-C10D-4E36-A0E6-125EC53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81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Independent Review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88297-1A34-488A-A4C7-AF55064D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14800"/>
            <a:ext cx="2819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別セッションで差分と証跡を検査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37B12-4AE0-4117-A028-1C2F7700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67125"/>
            <a:ext cx="2857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21565-9A5B-44E2-8E74-797D341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67125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0C51D-23F8-4D2E-A549-B1671A12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814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Repair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5BA35-2E1C-4BF7-A091-6A3CC0C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14800"/>
            <a:ext cx="2533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失敗内容だけを受け取り修正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C65BD-F66B-4690-AF3B-397AF6B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FE0BB-19B6-476A-9323-AFFB427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F05D8A-6D8E-4A29-BE52-09D1872F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Draft PR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75DC0-C8FF-491F-AFC1-4A9FCC89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057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最終CIとリスク判定へ</a:t>
            </a:r>
          </a:p>
        </p:txBody>
      </p:sp>
      <p:cxnSp>
        <p:nvCxnSpPr>
          <p:cNvPr id="79" name=""/>
          <p:cNvCxnSpPr>
            <a:stCxn xmlns:a="http://schemas.openxmlformats.org/drawingml/2006/main" id="1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9239250" y="2543175"/>
            <a:ext cx="13335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79D995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3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3048000" y="3552825"/>
            <a:ext cx="4619625" cy="62865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5286375" y="2543175"/>
            <a:ext cx="5286375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dash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6715125" y="41814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806F"/>
            </a:solidFill>
            <a:prstDash val="dash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7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5286375" y="2667000"/>
            <a:ext cx="252412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C8D859-DB7A-4649-A55D-EC92EB30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停止条件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B82F1-0485-404C-A375-4819747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911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同じ失敗が続く  /  Run・時間・使用量の上限  /  権限または仕様判断が必要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EE75F2-EEFE-4A17-A0CB-ACCB41C6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停止時はコードを破棄せず、証跡付きで人間へ引き渡す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A4F5D9-8DFB-4792-8204-5BEBCEDA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3567A2-4EDF-4B5C-B04F-822794F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998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3510CC-6D04-47AD-8EC9-047A165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CIの信頼境界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2722-621F-4D23-B781-7606309A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新規テストの内容と、改変できない実行・判定経路を区別する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89E2A-DD9E-41AE-A5AC-3D047713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3604-3CC5-4943-B6BB-D88EC37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6672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FF80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D8D2D-C8AC-4E27-A43B-85F208C0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信頼しない領域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55B27-4130-4B8C-ABCA-6643293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8A14E-C3F1-4498-A46D-8E75951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B7C1A-C430-441A-BE00-AFCC2DD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生成コード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ADA55-E794-4536-9F1C-7725146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37401-DBB9-41E5-8A9A-1259EED4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生成テスト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53860-43CA-44BE-AC89-874B9F75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671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F7E94-B226-4090-813E-43E004E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9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リポジトリ内の指示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B7ACB-0A3E-46CA-8632-A6A877B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F90C3-18C9-4F13-9E50-E1B057F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Issue本文・外部入力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1E880-09EC-4ACE-A87C-D672546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E699B-5384-42C3-B875-ABE2BA6C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Agentが提案したコマンド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FF56D-EB5C-4312-A399-A118BC60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1000125" cy="2000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A2A43"/>
          </a:solidFill>
          <a:ln xmlns:a="http://schemas.openxmlformats.org/drawingml/2006/main" w="23813">
            <a:solidFill>
              <a:srgbClr val="F4C7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48C26-A64C-456E-9541-55B6A89F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境界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BB2C2-81BC-4FC8-9A54-E8FD0F8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許可済み</a:t>
            </a:r>
          </a:p>
          <a:p xmlns:a="http://schemas.openxmlformats.org/drawingml/2006/main">
            <a:pPr algn="ctr">
              <a:defRPr sz="12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Job IDのみ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EF6DE-7E8E-41FD-ABA1-6C7A070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4714875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79D99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2F5DF-501B-4F7C-BB6C-90CFDB5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52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Agentから独立した領域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7E6D5-A777-421B-A935-C4F9CA12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Independent CI control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DAC56-E7AC-49B9-B921-E7A646D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13BD2-56A8-4974-A3E7-69F66DE5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基準ブランチのCI定義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28302-0E38-45B6-9E12-AC5C56F2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E9B96-F23A-4D7B-95F7-542355DC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623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一時コンテナ・制限された権限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6B428-2B37-4E19-A822-711A7C6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00F10-8EF8-4799-9C29-44607E9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195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型・lint・セキュリティ検査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89B026-E518-4B79-BB56-93D3396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9BCBF-B359-4615-A562-EC026B6E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76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署名された結果とログ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7FCBD-D7EF-4307-B28A-E2BB98F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02E86-92CB-46A2-8EA1-0FBC0005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339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合否だけを実行ループへ返す</a:t>
            </a:r>
          </a:p>
        </p:txBody>
      </p:sp>
      <p:cxnSp>
        <p:nvCxnSpPr>
          <p:cNvPr id="70" name=""/>
          <p:cNvCxnSpPr>
            <a:stCxn xmlns:a="http://schemas.openxmlformats.org/drawingml/2006/main" id="4" idx="3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V="1">
            <a:off x="5286375" y="347662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C76B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7" idx="0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572250" y="347662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9D995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035DBB-A89D-48D5-B0DB-C4582E62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現状の課題: Agentが生成した devpipeline-tests.json の文字列をホストが shell=True で実行する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FF59C2-BF19-4043-936E-D75EE42E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9E302E-F491-44A5-8EB0-A89E71E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7677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7513A-67E7-4212-AF8D-7EC61DE2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人間が介入する境界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1D8C-F669-49A3-9D83-C8E26B92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通常処理を自動化し、判断や不可逆な変更だけを止める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64DA5-22FE-423F-B01F-A60A57C6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7826E-525F-466E-83ED-A88420E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667000" cy="3857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79D9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33962-D8B1-4796-ADAC-E878DD93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8AFF3-9F3E-46DF-9DE2-2A7F8CFD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自動実行・Draft PR候補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87D09-2DF2-4F56-BE9A-5FEEA930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950DA-BE4C-44A5-8DA2-69B0E420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テスト追加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12A03-7314-4528-8CE3-E1411732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683EA-9D85-4C64-90AA-B494A1E8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文書整合性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5B595-3D5F-45FD-9FFC-53A2504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BEE65-9721-40A0-AD0C-2BBA35C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限定的な内部リファクタ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3F205-3F59-4241-9138-B7E3DDDE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0A66F-61E9-467C-A265-128693B2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安全な依存更新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73D8B-E889-474F-810D-03113D80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2667000" cy="3857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F4C7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C4EEC-C422-4049-9093-DBA50DCB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478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MEDIUM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36F6D-D712-46A9-AE74-44D652E2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PR作成後に人間確認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D5706-CB84-414A-B284-1E79B13A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81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97B-2D93-4F01-8C01-AF222AA7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337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ユーザー動作の変更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8FB81-305D-4F96-ADA0-BDC0B7C2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57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B2863-644D-434F-B198-A086F829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100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新しい依存関係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146A9-83DF-4666-A512-E80468D2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33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E7CF0-70BB-4029-89F3-5089976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86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複数領域への変更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0FAE7-75AA-4AAF-A80E-BE2006A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101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A7E36-D2E6-4869-9796-3803D78D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762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大きな差分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748DC-D660-436C-98C7-4EF960FC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667000" cy="3857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FF80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CD6B6-800F-4989-9A85-E601B6DB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41DC6-7908-490C-B675-68D685C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実装開始前に方針確認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92D81-F9C6-47EE-8207-6E6A353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D84CE-50A0-4978-A6B1-ACE5BA75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認証・決済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F9480-6D44-4725-B1D2-2CA1C86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1B78EB-0787-4D5A-A81B-14A051AA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個人情報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5A9626-F102-46AA-ACE5-534394D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35B23-868D-4860-9C2B-ADB8799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862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破壊的DB変更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4263AC-E99F-4D44-9578-589E2A1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01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12CD57-E7C5-47B8-869B-454FF15B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権限・CI設定変更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960719-8E33-496E-952B-D2C7DD7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619375" cy="3857625"/>
          </a:xfrm>
          <a:prstGeom xmlns:a="http://schemas.openxmlformats.org/drawingml/2006/main" prst="roundRect">
            <a:avLst>
              <a:gd name="adj" fmla="val 5818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5E70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3E3282-9601-4F9B-97B7-B4C1DB41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478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OUT OF SCOPE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53A84D-13C3-482F-842E-4CB96B33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初期版では実行しない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1A558-3453-40C6-87DB-296DCB8A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381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4872BA-204D-4F1C-9C50-0411CA6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33375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本番デプロイ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48F63A-30CB-40DA-B6F4-29AD262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576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8F42DE-673B-48D2-97C3-E2F28DA0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1000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本番データ操作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0B8416-9374-40F6-96D5-04ED275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33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4C2E42-0433-47F1-A325-98335D0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8625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秘密情報の変更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588D29-FC0A-4F65-BA39-540C9DF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101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9C96B3-B26A-4116-8E73-9EC68E3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76250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保護ルールの回避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4E66AC-30C4-440D-B056-F101892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判定ルールはコード化し、Agentの自己申告だけでリスクを下げない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817B3-F8AA-4EA0-BE08-E045944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613BAF-3064-4A9B-9F6B-FC8C313F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8883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46188F-2D32-4589-A680-B484683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使用枠連動スケジューラ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85D5F-95D5-49A6-93FE-86558C45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価値の高い仕事を先に並べ、残量は同順位タスクの割当に使う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F3DD-012E-403A-9F88-0F0DA714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653F6-F7D5-437C-9D71-29CE71B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66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B0C39-A1AD-493B-8F71-3E2A23B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460CC-AC06-4D30-A6ED-79621C6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Ready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E677F-CADB-4597-AFDB-6E7D539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優先度・リスク・対象ファイル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00378-526F-419C-88AE-60D0BFFD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2952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DF392-DB04-4544-9E97-75033DD0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42797-DD22-4CC9-88F6-4ACE7269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28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Scheduler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E3C09-446F-45B8-BDC5-D97FA67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621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残量  /  リセットまで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成功率  /  平均所要時間</a:t>
            </a:r>
          </a:p>
        </p:txBody>
      </p: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86125" y="23098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90F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0774C-0A9D-460A-9CDF-DBEB833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66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8C5BA-AE50-4ACF-BC1B-92C02957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83AB3-92CF-4227-9984-78AF4B4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859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E2F39-7AF9-4AEA-A819-D51EEA96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複雑な実装</a:t>
            </a:r>
          </a:p>
        </p:txBody>
      </p:sp>
      <p:cxnSp>
        <p:nvCxnSpPr>
          <p:cNvPr id="6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572375" y="2071688"/>
            <a:ext cx="128587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0D5B2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B4654-3FDB-43D2-B81A-50F535F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利用可能枠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C12E5-8137-4D0A-96EE-CFCA030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238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425C"/>
          </a:solidFill>
          <a:ln xmlns:a="http://schemas.openxmlformats.org/drawingml/2006/main" w="0">
            <a:solidFill>
              <a:srgbClr val="3042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E2C6A-A301-4EB1-B53D-C6DE4C75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89154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580C3-4CD9-474D-8637-F53478C1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66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95DC1-8EC4-49AB-A953-0E864A37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6178A-5E8F-4095-A593-7088FF51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6F3EF-3F5D-4824-88BF-0B496BC2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042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独立レビュー</a:t>
            </a:r>
          </a:p>
        </p:txBody>
      </p:sp>
      <p:cxnSp>
        <p:nvCxnSpPr>
          <p:cNvPr id="72" name=""/>
          <p:cNvCxnSpPr>
            <a:stCxn xmlns:a="http://schemas.openxmlformats.org/drawingml/2006/main" id="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572375" y="2309813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9D995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96A00-FBC2-4741-82FC-EEF9D58C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99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利用可能枠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B590A-AD29-4E7B-A315-9401565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48075"/>
            <a:ext cx="1238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425C"/>
          </a:solidFill>
          <a:ln xmlns:a="http://schemas.openxmlformats.org/drawingml/2006/main" w="0">
            <a:solidFill>
              <a:srgbClr val="3042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DA53F-5292-48AE-A4CF-BDE8384D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48075"/>
            <a:ext cx="56959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8D1B06-6082-44B9-8463-B533BF9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266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EC5127-F892-424F-8D84-9C8AA12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6F753-10E7-4840-AB37-5CD19D9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481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C17A63-2D06-4B71-9DD9-0FFFEF4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8155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探索・小規模修正</a:t>
            </a:r>
          </a:p>
        </p:txBody>
      </p:sp>
      <p:cxnSp>
        <p:nvCxnSpPr>
          <p:cNvPr id="80" name=""/>
          <p:cNvCxnSpPr>
            <a:stCxn xmlns:a="http://schemas.openxmlformats.org/drawingml/2006/main" id="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572375" y="2309813"/>
            <a:ext cx="128587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C76B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9C6A8-3575-4282-9B5F-99657DFD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利用可能枠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E8ABD0-0152-4437-B2DD-6A0A5F0A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29200"/>
            <a:ext cx="1238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425C"/>
          </a:solidFill>
          <a:ln xmlns:a="http://schemas.openxmlformats.org/drawingml/2006/main" w="0">
            <a:solidFill>
              <a:srgbClr val="3042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223B77-A827-43CE-A9A7-88D70E92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29200"/>
            <a:ext cx="108966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98FD1B-A310-45B1-95C0-C443A774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制約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BE73B9-A0D2-4685-A0FC-3D9E7EF2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C03E77-F99C-4F7A-937D-A892FA7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同時実行数とProvider制限を守る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8B2D2-2417-4F66-B09D-17C53650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145489-E79E-4922-9A1F-A21471F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IssueごとにRun・時間・使用量の上限を持つ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204D3D-47B2-426C-BE8B-49B50992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D98709-FCF4-4117-8158-EDD8E0B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同一ファイルを触るタスクは直列化する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2E008A-F9D3-4F2D-A1BE-DE80E29D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6B178C-5D09-4FA0-BCDF-A10AD0D2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7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消費だけを目的としたタスクを作らない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ADE1CD-05E5-4F37-872F-AC0F068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FD7D1C-4D02-40AB-AAF6-9AD0CF0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3385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F272C3-4373-4676-881A-EA53A097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二つのIssue起点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61FD4-59A4-49DD-BF5B-6FAB7BB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人の要求とAgentの改善提案は、入口の審査だけを変えて同じReady Queueへ送る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95C23-86DF-4D6C-BB3E-60FB4D1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43EDA-FFED-461A-8A8F-0D422A5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人が提起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7174C-D3DA-4F9F-A8E8-4E6DDD8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543C-0922-477D-BD37-15818FFF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86051-66E7-43AF-966F-82ACB70A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粗いアイデア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1FD2D-0121-4D25-B094-ACA4291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欲しいことを短く登録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詳細仕様は不要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C9BD1-8F12-4E84-9D3B-C2F0D3A8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66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76A98-35C9-4C7C-B93E-2978D710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C552E-4507-4588-921C-905206DB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669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一次要求として受付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9C158-68E5-4DE9-90BC-3E58541D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意図を尊重し、仕様化へ送る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95625" y="245268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5BFFF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96819-4358-41A5-A47D-E43758C1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source:human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66BAE-DFA8-4D45-9C4E-EA5E899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Agentが提起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3EE36-D4EE-452A-94D5-724FC8F1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247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C91A0-9D8D-4CD9-954B-9FDCB53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23CF7-A07F-459D-824B-41C0729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開発中の観測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80FE2-D907-40B6-B1EC-369BC1C9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CI・コード・依存関係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文書との不一致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90D34-6AF4-4676-A9F4-5E90F89B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667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4D869-0EF7-4258-B8F0-EEA90BC6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191A1-536A-48A7-95D3-17DD4201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候補の根拠審査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9D414-597D-44B2-9650-290B42A2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重複・再現性・確信度を確認</a:t>
            </a:r>
          </a:p>
        </p:txBody>
      </p: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095625" y="47196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574F7-5F3E-492E-ABFB-D22321A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source:agent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F8631-204B-431E-9686-8E47D1C7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14BF5-3255-47D7-AB98-52B066C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71C19-44EB-4990-B775-B534D5A3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共通の仕様化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DB126-E6E9-4457-A2A4-8AB8A2E3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28975"/>
            <a:ext cx="2152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調査・仮定・受け入れ条件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変更範囲とリスク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9799C-132D-4CE8-BCED-474A2C8C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52750"/>
            <a:ext cx="1714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ACEDF-31F4-400E-A224-1788B3CA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5275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4DFF2A-CE9F-4D2C-BCD5-CC7E91DF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670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Ready Queue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8C321-5588-46F6-BC0E-2A8AA2A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00425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実行可能なIssueだけを登録</a:t>
            </a:r>
          </a:p>
        </p:txBody>
      </p: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286500" y="2452688"/>
            <a:ext cx="66675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5BFFF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6286500" y="3495675"/>
            <a:ext cx="666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4C76B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429750" y="3495675"/>
            <a:ext cx="5238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9D995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C9BA62-D720-415F-822D-E8813FB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053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違い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BF8C88-BC9E-49BB-A605-14B5795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01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人のIssueは意図が根拠。AgentのIssueは観測証拠が必要。Ready後は共通ルールで優先付けする。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1DFEFA-181B-41C8-A779-F39A87F3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42205B-EDF8-43F6-8BA1-C11AEF5F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0565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821F02-36DD-47BB-959E-A8A3194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粗いIssueの仕様化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011ED-BEE3-4C49-AFC4-5BB9CF71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Agentは既存コードと仕様から不足を補い、質問を例外処理にする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E2421-7420-45A3-BAE6-70B774D2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AB055-B59D-45F5-9993-7DE82466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333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7AA1A-D229-4BC2-9FEE-65421B8F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47898-4D8D-443A-AEEC-6E513E68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76425"/>
            <a:ext cx="200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1  粗いIssue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E0B21-4543-43A0-8F6D-0DC0488C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目的やアイデアだけ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17E19-716D-4316-BEB3-12F38E0F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333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3208-6E83-49BC-9A04-818DD11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7AD6E-4B07-46D4-AA52-63515A6E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76425"/>
            <a:ext cx="2009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2  現状調査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D0957-793D-4578-BE7C-AA34F0D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098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コード・テスト・文書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既存の設計慣行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82BA9-4AB1-45B8-A2A7-FB17A25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62125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B1611-5FCC-41DB-AF4E-09F1260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81991-01B1-4A19-8CC0-7BC30967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76425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3  実装可能な仕様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940E4-2429-4E95-938A-1EDDA5FA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9800"/>
            <a:ext cx="2105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受け入れ条件・仮定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対象外・依存関係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1C4D9-CC6F-4F70-8A24-72638098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619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85DBC-46FB-4AED-B55E-AA7D879A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83890-73E8-46D3-86BA-4403795B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76425"/>
            <a:ext cx="2295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4  Ready判定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60CDE-CDE8-4B5F-8AC8-CD79A76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2295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合否が定義できるか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安全に仮定できるか</a:t>
            </a:r>
          </a:p>
        </p:txBody>
      </p:sp>
      <p:cxnSp>
        <p:nvCxnSpPr>
          <p:cNvPr id="56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22621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19750" y="22621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477250" y="22621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38CB1-D26A-489D-BEEA-68A719EB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323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CE9EF-4563-4537-83FC-BACDB6CB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30466-8CDF-4992-A859-971C967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14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仮定して進む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F2F18-8202-40B0-872C-A666CCD2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481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可逆・局所的・既存慣行に沿う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6C5697-8A4D-4D85-BB19-7ADFB5CF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180C9-54C0-49E4-AC9A-28D5582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3A342-E1B3-4636-9752-461CA978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質問をまとめて保留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69D831-C3E3-4B86-9F3B-1AE3C4A0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481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結果が大きく変わる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課金・削除・公開・方針衝突</a:t>
            </a:r>
          </a:p>
        </p:txBody>
      </p:sp>
      <p:cxnSp>
        <p:nvCxnSpPr>
          <p:cNvPr id="67" name=""/>
          <p:cNvCxnSpPr>
            <a:stCxn xmlns:a="http://schemas.openxmlformats.org/drawingml/2006/main" id="1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3619500" y="2762250"/>
            <a:ext cx="6596063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79D995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8524875" y="2762250"/>
            <a:ext cx="1690688" cy="1238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17300-F146-4DA1-9E71-7A8EFBF4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Ready条件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5CE87A-D384-4DA9-B195-F1EF918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245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目的・受け入れ条件・変更範囲・リスク・依存関係が記録され、実装後の合否を機械判定できる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CEEF33-8700-4E0F-802D-2A764F6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5DA26-53DE-4A7B-82D6-EF9847F3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01208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FDECFF-B143-4631-B546-F124F299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優先順位と着手選択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52994-2A18-4DC9-91DE-43F8584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価値を先に決め、利用枠は同順位の仕事をどのAgentへ渡すかに使う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5FCD2-ACE1-4471-B07B-7751480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35D1-B45A-4E00-8FC5-5A6D24B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Ready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B8C7C-C057-432B-BDC7-930D3FC6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714625" cy="36671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1E7BC-4147-45B1-A422-F901788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19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8288A-1797-4C1B-9879-6B8A5B59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人  新しい検索体験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43805-0884-4031-A7B4-ED31F88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19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2A747-DA8E-4ADC-AE29-C14C37E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AI  Flaky Test修正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93A5C-B2A2-4CAE-ADC5-DF1FB32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19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79D33-9DC3-4E78-A382-CF257B6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人  CSV出力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E5E79-5720-4673-875C-6081722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19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E86D1-1B76-4518-B374-0244A209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AI  未テスト領域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4551E-2A36-4B50-BFD2-42707A6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共通の優先度評価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45FC6-B5F4-4B9B-A0D5-7952AA66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476625" cy="36671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F4C7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88F26-EED9-42F4-AAFD-9E32DA9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F8B3A-D890-4885-873F-19572F17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プロダクト目標への寄与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743C1-2624-48DB-8A4D-159B488C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37BF9-8DB6-4102-B0D9-7268FDA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障害・依存関係・期限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0F11D-2AB0-4F1D-A578-AC6869F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09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E9555-5879-43EB-804F-A4C86F21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仕様と検証条件の充足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BA429-26FF-45F7-B7A8-D2C8D548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624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120D3-B923-4077-A5EC-89E6438B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差分規模と成功可能性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BD1CB-18F5-4F9B-99AC-64E5D939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ACCFF-B672-4063-8141-BED6EDD3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7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権限・データ・不可逆性</a:t>
            </a:r>
          </a:p>
        </p:txBody>
      </p:sp>
      <p:cxnSp>
        <p:nvCxnSpPr>
          <p:cNvPr id="70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333750" y="37861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C76B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A4525-F823-4CE8-B51D-B28E62DA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実行順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344C92-3DCC-41D1-9DC8-3D768361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30003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FF849-00D5-48B0-B31E-B50C5E41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E334E1-81BF-41C0-A7D4-94D18E58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1  最上位のReady Issue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1D692-7706-4747-8336-7551FC9F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47925"/>
            <a:ext cx="2676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人の固定指定があれば最優先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95EB0-B67E-4507-B990-4422396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30003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E8113-E5C0-49A1-AA9F-2BE3178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946990-F778-430B-9CD5-FDEA5703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2  依存が解けたIssue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3856E-9668-4E47-A4AE-30903A2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81425"/>
            <a:ext cx="2676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同一ファイル競合を避ける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04A07C-F158-49B6-8F3C-77DD3780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3000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9177F2-D669-414A-98FB-27CCB05F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8AD434-2BB9-4B4B-AA8A-8D6727E5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815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3  待機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6C8F0-3FBB-4F6A-9BC0-BC664CB7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14925"/>
            <a:ext cx="2676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仕様不足・高リスク・枠不足</a:t>
            </a:r>
          </a:p>
        </p:txBody>
      </p:sp>
      <p:cxnSp>
        <p:nvCxnSpPr>
          <p:cNvPr id="84" name=""/>
          <p:cNvCxnSpPr>
            <a:stCxn xmlns:a="http://schemas.openxmlformats.org/drawingml/2006/main" id="1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7572375" y="2452688"/>
            <a:ext cx="1000125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79D995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5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572375" y="3786188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990FF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572375" y="3786188"/>
            <a:ext cx="1000125" cy="1271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7F52B5-E246-47D4-B89B-52663D6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5FC29B-41F2-40FD-B3E2-4007FBC8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049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EB12C0-7266-4946-9FF0-F7E5E597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誰がテストを書き、誰が合否を決めるか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4269B-9492-4629-8894-B55892E1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新規テストはAgentが作る。独立CIは実行結果を固定し、レビューが検証内容を確認する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0A8B-74B3-4F2F-8031-731F6691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76404-DD45-4269-BEDC-5E3150BE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95262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00C28-393A-48FD-B2DE-01B3433D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7F413-40AC-4BF4-AD9C-DAD33A7F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7642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Ready 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AFB49-31D2-4D94-A377-58838A2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62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受け入れ条件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D87DF-7CC0-4091-BCFB-9050E584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2095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051F9-EDC1-48FC-9B22-65A07D4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4E45-B1C3-4DDE-A21E-117C7A7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764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Test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E48F3-2AD5-414E-904B-5D5879A9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098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仕様から新規テストを追加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3004F-4ECC-4C91-A625-AD654AD3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28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30D5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60C59-26B2-41AD-B7E8-528B33F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5B2"/>
          </a:solidFill>
          <a:ln xmlns:a="http://schemas.openxmlformats.org/drawingml/2006/main" w="0">
            <a:solidFill>
              <a:srgbClr val="30D5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6E049-232D-4A23-9982-62F7A48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7642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Implementation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10140-58EE-4415-98BC-5727F5B4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テストを満たすコードを実装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BD79C-CC08-4716-8DF3-81A5BA67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2381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6EC97-E783-47F8-983C-256F44D6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02D1C-31FD-4271-8F8D-7E6547C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811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Independent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163F9-F492-49AC-B577-89BB7AAD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05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既存＋新規テスト</a:t>
            </a:r>
          </a:p>
          <a:p xmlns:a="http://schemas.openxmlformats.org/drawingml/2006/main">
            <a:pPr algn="l">
              <a:def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build・型・lint</a:t>
            </a:r>
          </a:p>
          <a:p xmlns:a="http://schemas.openxmlformats.org/drawingml/2006/main">
            <a:pPr algn="l">
              <a:def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セキュリティ検査</a:t>
            </a:r>
          </a:p>
        </p:txBody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2214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00625" y="2214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E708A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15250" y="2214563"/>
            <a:ext cx="428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D995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9FF44-B27D-4128-8789-0D80F10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7625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79D9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B7888-93F6-4489-B69C-458E7222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7625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995"/>
          </a:solidFill>
          <a:ln xmlns:a="http://schemas.openxmlformats.org/drawingml/2006/main" w="0">
            <a:solidFill>
              <a:srgbClr val="79D99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CE138-9D37-4E7F-815D-9CCD077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Review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0EB94-0390-4266-9ACC-0B1F7837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新規テストが受け入れ条件を</a:t>
            </a:r>
          </a:p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十分に検証するか確認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3CD4E-74CB-48F7-84EA-2ACE7078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5C7FA-55B2-46E8-B0E5-5152A12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08CF7-0A1E-4C74-9A50-CA23E25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719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Repair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0530EA-6EF8-4864-8568-FBE60AF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CI失敗またはレビュー指摘を修正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07BB1-E1B6-4647-BCD0-34FD1BA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095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7895B-2428-49D0-9EBA-D8429EB0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BD8FE4-743B-48F9-8349-FC040B98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Draft PR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946BBC-1381-4F7B-9F04-3DF426E2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検証結果と仮定を記録</a:t>
            </a:r>
          </a:p>
        </p:txBody>
      </p:sp>
      <p:cxnSp>
        <p:nvCxnSpPr>
          <p:cNvPr id="78" name=""/>
          <p:cNvCxnSpPr>
            <a:stCxn xmlns:a="http://schemas.openxmlformats.org/drawingml/2006/main" id="1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8572500" y="2857500"/>
            <a:ext cx="7620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79D995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23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2762250" y="3743325"/>
            <a:ext cx="4381500" cy="661988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30D5B2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762500" y="2857500"/>
            <a:ext cx="4572000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dash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6191250" y="4405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806F"/>
            </a:solidFill>
            <a:prstDash val="dash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7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762500" y="2667000"/>
            <a:ext cx="180975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751C54-D7B8-464E-98F6-04195CC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重要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DD75BB-81E4-488F-ACD0-7DB0B96A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独立CIが保証するのは実行経路と結果。新規テストの妥当性はReview Agentが検査し、必要なら人が最終確認する。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3C84CB-69A5-48DB-8C55-D69E02E8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A3C8CC-7934-4AA3-96E9-1E470A0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5384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6872B6-C4A1-41BB-8A7F-B2739B27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異常時の行き先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7C001-668E-40DE-ACF1-EDC6FA3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失敗を無制限に回さず、原因ごとに修正・待機・人間判断へ分岐する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B75B9-DFED-4839-BABF-545F6DAA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99793-F764-4F2E-9F2A-9A1658E3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検出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DDB83-763B-412D-BA2F-F7691CEA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57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処理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95430-EBA9-4D76-B31F-5458E007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57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行き先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7FFDE-DC98-4A49-A59D-A9BE9A54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63DB4-0699-49F8-AA7E-ACC1DFF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DB122-69B4-44B6-A017-D01E8A0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テスト失敗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6E4AF-D46A-45FC-94B5-90045AC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19BCD-EDE2-4229-93C0-8640554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0D6B5-5E8E-4136-A38C-ACFD6F5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859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Repair Agentがログから修正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983BB-6D4B-493E-8C95-836497A7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19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417C9-045E-4687-AA4A-EA0BCAE2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FA53F-DCD3-4A3A-9657-94DDB822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8592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再CI。上限超過で停止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1914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39000" y="1914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DEEF6-2848-4E25-859B-DCA4C351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0F344-55EB-442D-9F4D-862AD128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0A9C6-22E0-489B-9C01-0AE42E5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28925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仕様不足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85F53-90B7-40FE-A921-F919A894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D0F04-EE17-4C84-B687-335C139B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9F2FA-B02B-4E3F-B70D-3CB834DE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289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安全な仮定で仕様を補完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26DEC-E4A0-43D9-BB7A-DC4E462B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19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4C7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7BF96-F006-4150-AE9D-ED036693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76B"/>
          </a:solidFill>
          <a:ln xmlns:a="http://schemas.openxmlformats.org/drawingml/2006/main" w="0">
            <a:solidFill>
              <a:srgbClr val="F4C7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1068A4-BCFA-4A79-A972-34D4094B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2892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重大判断だけ質問待ち</a:t>
            </a:r>
          </a:p>
        </p:txBody>
      </p:sp>
      <p:cxnSp>
        <p:nvCxnSpPr>
          <p:cNvPr id="79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190875" y="3057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4C76B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239000" y="3057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4C76B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18CFD8-2459-486E-803A-EFA7F408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0C7F9-9B16-42F8-81B8-C2B9246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7FCDBD-A51D-48C2-965C-67AB809E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71925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使用枠不足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CB1FA0-4321-47A3-8896-35183272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DCADEB-0A03-47E7-90C4-7D2AC29C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23A4E-75A2-4FDB-A1B4-7FC9696B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719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別Providerへ割当を試す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05ECC9-B990-4685-B4D9-122767BB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319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A990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7A50F3-0F19-4E70-8DDF-9A4B8E9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0FF"/>
          </a:solidFill>
          <a:ln xmlns:a="http://schemas.openxmlformats.org/drawingml/2006/main" w="0">
            <a:solidFill>
              <a:srgbClr val="A990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B65B7-DB3E-4904-BC91-5AF92678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7192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不可ならReady Queueへ戻す</a:t>
            </a:r>
          </a:p>
        </p:txBody>
      </p:sp>
      <p:cxnSp>
        <p:nvCxnSpPr>
          <p:cNvPr id="90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190875" y="4200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990FF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239000" y="4200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990FF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8A0908-F19B-4EEB-9DEE-BD4E721E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2A5CB6-CED7-4EC1-93A0-67F4899A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86BFB7-4985-4FAE-A09F-BAF1BF4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14925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競合・依存待ち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236318-0EAC-4A6D-A7DB-F80AB162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0062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E40C88-AFCA-4918-A0BE-B305904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00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23E313-9F21-4FDC-8CC8-8283FAC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149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同一領域を直列化しrebase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070E5E-9EB8-45B4-A26D-138C7655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00625"/>
            <a:ext cx="3190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65B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60577B-BFCF-412B-AD7C-4ACB50CC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0062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FFF"/>
          </a:solidFill>
          <a:ln xmlns:a="http://schemas.openxmlformats.org/drawingml/2006/main" w="0">
            <a:solidFill>
              <a:srgbClr val="65B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A84D41-E935-420F-B4F5-00597D38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1492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解消後に自動再開</a:t>
            </a:r>
          </a:p>
        </p:txBody>
      </p:sp>
      <p:cxnSp>
        <p:nvCxnSpPr>
          <p:cNvPr id="101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190875" y="5343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5BFFF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7239000" y="53435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5BFFF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05FAAD-4C2E-441D-A128-766B5D35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E6D903-1507-4675-8FEF-E811F647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3693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9469FD-2910-43F3-9476-BA0550CA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dev-pipeline2の残し方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A6636-958F-4E73-8C2F-4BAD3D98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現行システムを主制御にせず、ローカル実行に固有の機能だけを抽出する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CAE7A-F61A-4B74-A8E1-F7181F2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6B496-DDA5-4E12-9B65-CC9A630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現行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A68FF-4C14-4BC5-8C9B-B04D2AB6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238500" cy="3476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65B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23637-85B3-4F62-BD09-367AD8AC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65BFFF"/>
                </a:solidFill>
                <a:latin typeface="Hiragino Sans"/>
                <a:ea typeface="Hiragino Sans"/>
                <a:cs typeface="Hiragino Sans"/>
              </a:rPr>
              <a:t>dev-pipeline2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EDB22-60F7-4811-93D2-BAE34005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1  独自Issue・状態管理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DA932-7683-4BC2-B3A3-7CC0D40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2  フェーズ分割と承認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F0E43-8ED3-47BC-8E72-647BC37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3  Agent CLI実行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EBAD7-5E60-41F6-B65E-18E7352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4  検証とレビュー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7905F-0B9B-45CF-8CF3-8D7AFBD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5  使用量・ログ・再開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6A61F-A5F9-4171-96C3-D443E13F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1238250" cy="24288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A2A43"/>
          </a:solidFill>
          <a:ln xmlns:a="http://schemas.openxmlformats.org/drawingml/2006/main" w="23813">
            <a:solidFill>
              <a:srgbClr val="F4C7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D8CE7-5F5B-4EB7-97D5-194FC972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003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責務を分割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4D844-C312-4FC5-9FA4-4E23353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重複を外す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V="1">
            <a:off x="3857625" y="3500438"/>
            <a:ext cx="9525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C76B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CE010-F6B2-47B0-82D0-80B53DB7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残す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B5509-63E9-4550-B1DF-0A5BB9C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762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79D99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9D6C94-6025-4BC6-A3ED-76FDFB1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Local Capacity &amp; Runner Broker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2EC4F-F44F-41C2-BB50-928301AC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●  Provider / Agent CLIの切替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01D54-DC97-449F-92DF-98981AB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43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●  使用枠と同時実行数の管理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EF35E-5327-441C-A5F4-32C20C0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67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●  worktreeリース・停止・再開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43A4C-5326-40A6-960B-D31E482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909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●  ローカルログと実行上限</a:t>
            </a:r>
          </a:p>
        </p:txBody>
      </p:sp>
      <p:cxnSp>
        <p:nvCxnSpPr>
          <p:cNvPr id="56" name=""/>
          <p:cNvCxnSpPr>
            <a:stCxn xmlns:a="http://schemas.openxmlformats.org/drawingml/2006/main" id="12" idx="0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048375" y="2905125"/>
            <a:ext cx="619125" cy="595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9D995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0050C-BDB1-45C0-9FDE-EDEC725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GitHubへ移す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4A2DD2-D8FB-45D3-8E0C-C2C6EAE0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762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14288">
            <a:solidFill>
              <a:srgbClr val="FF80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FFA36-178D-43A6-85F9-8C421B4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6F"/>
          </a:solidFill>
          <a:ln xmlns:a="http://schemas.openxmlformats.org/drawingml/2006/main" w="0">
            <a:solidFill>
              <a:srgbClr val="FF80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FFE16-8ACD-4E8B-A694-80F41ED8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Issue・PR・状態・承認・Required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87FD1-1C7F-4DF0-96DA-24F96E63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9675"/>
            <a:ext cx="4438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gh-aw / GitHub Actions / Rulesetが正式な制御面を担う</a:t>
            </a:r>
          </a:p>
        </p:txBody>
      </p:sp>
      <p:cxnSp>
        <p:nvCxnSpPr>
          <p:cNvPr id="62" name=""/>
          <p:cNvCxnSpPr>
            <a:stCxn xmlns:a="http://schemas.openxmlformats.org/drawingml/2006/main" id="12" idx="0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048375" y="3500438"/>
            <a:ext cx="619125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F806F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42D1EB-B512-49ED-BD4B-50F35C11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結論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22D9C-C048-4D37-8956-F9C206E4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既存資産だから残すのではなく、ローカル実行に固有の機能だけを再利用する。抽出コストが高ければ小さく書き直す。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ADE44-C644-4833-88EC-AA15F7F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87CD8C-55A2-4D5D-9B59-6A0EEB4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81140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5F6054-F565-4FE5-944D-73AB66B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採用事項と未決定事項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FE7EB-0FFA-40D2-8493-0B234B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設計の骨格を固定し、運用上の強さだけを段階的に決める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70177-07AB-436F-A302-47059FA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2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B1217-F38F-4FD7-91F8-A08E383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42887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FF80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E81B6-C9BA-4A9C-97C2-FEE2509B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FF806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0FEC5-F588-4596-8BE2-A8C82E84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240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GitHubが正式記録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8C42D-6803-41FB-A5BC-130E9533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Issue / PR / Checks</a:t>
            </a:r>
          </a:p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Rulesetで完了条件を固定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D777C-3ABB-4B01-9D75-EF7ACB6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42887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A99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0190C-68C1-404C-A4C2-E05A27A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05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990FF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A990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D6EB8-CB93-451F-87C7-7245128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9240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二つのIssue入口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0BDE9-D293-4548-BBD0-E1EE1FDF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人の粗い要求</a:t>
            </a:r>
          </a:p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Agentの根拠付き候補</a:t>
            </a:r>
          </a:p>
        </p:txBody>
      </p: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2452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FD4BF-FE48-4B2D-8563-AB606C91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2887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30D5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1FFDB-3B70-409A-B0B7-D376918A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30D5B2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B1ED1-B6F1-41DE-B726-ED93F466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共通Ready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8D19A-7F3F-446E-A8C8-72F797E4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74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仕様化・優先度</a:t>
            </a:r>
          </a:p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依存・リスク判定</a:t>
            </a:r>
          </a:p>
        </p:txBody>
      </p: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0250" y="2452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BE5F6-CD22-47AC-AFFB-E564734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42887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23813">
            <a:solidFill>
              <a:srgbClr val="79D9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9ADD0-9A0C-4CD9-8DD9-710128D7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05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79D995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0DF2F-924F-4B5C-BB73-BE33E71C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薄いローカル基盤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B07CE-0799-4682-85D4-13A596A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使用枠・Agent割当</a:t>
            </a:r>
          </a:p>
          <a:p xmlns:a="http://schemas.openxmlformats.org/drawingml/2006/main">
            <a:pPr algn="l">
              <a:def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worktreeと停止処理</a:t>
            </a:r>
          </a:p>
        </p:txBody>
      </p:sp>
      <p:cxnSp>
        <p:nvCxnSpPr>
          <p:cNvPr id="59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20125" y="24526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425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12283-78CB-4EE3-BBC6-3FB167E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設計を練り直す論点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AA679-F7EF-4EF1-8B4B-0C6880A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86D75-CAEC-4409-BF3C-6CD7004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Agent Issue公開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8F53F-74C3-4D7A-B7E8-9E485979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05300"/>
            <a:ext cx="823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候補としてDraftに置くか、閾値通過後すぐ正式Issueにするか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CEB53-0CD2-42CF-86F1-D0134C0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1C1CC-93D0-4283-95DA-3CF1F094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優先度の重み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7877B-CFDC-4ECD-A746-D5AA6B09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823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人の固定指定、価値、依存、コスト、リスクをどう配点するか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8F71E-CD54-4A1F-B105-F9B636D0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482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5B29DF-615B-4E32-A1A5-60D0C2A3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質問の閾値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99AC0E-3E96-4E08-96BA-91AC153D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19700"/>
            <a:ext cx="823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どの判断まで仮定で進め、どこから人へまとめて聞くか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A99B5-11BA-48D8-8F0B-5C00F06F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4C76B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9A77DC-4E27-4984-996D-C8E77F9D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5F7FA"/>
                </a:solidFill>
                <a:latin typeface="Hiragino Sans"/>
                <a:ea typeface="Hiragino Sans"/>
                <a:cs typeface="Hiragino Sans"/>
              </a:rPr>
              <a:t>自動Merge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17EBF3-DB8C-44C8-B46E-8AC168B9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76900"/>
            <a:ext cx="823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9AAAC0"/>
                </a:solidFill>
                <a:latin typeface="Hiragino Sans"/>
                <a:ea typeface="Hiragino Sans"/>
                <a:cs typeface="Hiragino Sans"/>
              </a:rPr>
              <a:t>Draft PR完成で止めるか、低リスク変更だけMergeまで許可するか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C2134-F989-4AF0-8889-74A8D75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設計ドラフト  2026-09-15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7E16FA-2EC4-435E-82CB-7C177F2B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5E708A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23170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2026-09-14T23:56:42.8960000Z</dcterms:created>
  <dcterms:modified xsi:type="dcterms:W3CDTF">2026-09-14T23:56:42.8960000Z</dcterms:modified>
</coreProperties>
</file>